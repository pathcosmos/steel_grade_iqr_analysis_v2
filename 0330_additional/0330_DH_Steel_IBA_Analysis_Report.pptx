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DH Steel IBA Data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DC3C7"/>
                </a:solidFill>
              </a:defRPr>
            </a:pPr>
            <a:r>
              <a:t>Process-Defect Correlation Analysis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5A5A6"/>
                </a:solidFill>
              </a:defRPr>
            </a:pPr>
            <a:r>
              <a:t>2026.03.31 | Analysis Period: 2025.05~08 + 2026.01~02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Customer Requirements Analysis (5 Items) + Additional Requests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Executive Summary</a:t>
            </a:r>
          </a:p>
          <a:p>
            <a:pPr algn="l">
              <a:defRPr sz="1600">
                <a:solidFill>
                  <a:srgbClr val="BDC3C7"/>
                </a:solidFill>
              </a:defRPr>
            </a:pPr>
            <a:r>
              <a:t>Key Findings at a Glance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100584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00400"/>
                <a:gridCol w="3200400"/>
                <a:gridCol w="320040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Question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Answer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Key Evidence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Variability causes defect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or defect causes adjustment?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BOTH confirmed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(3 forward + 3 reverse)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RUN filter separates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true/false signals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Q2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Furnace or Torque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leads first?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FURNACE leads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Stand 8 vs Furnace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rho=-0.722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Q3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Management standards?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Provided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(by grade)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D4 Gas Flow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Gap -75.2%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Q4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Why Stand 14/Block Mill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results are small?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avg is NOT significant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but std IS significant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std rho=0.351***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Q5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ML vs Stat ranking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mismatch?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Reconciled Top-5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PR3 Torque #1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3/3 grades converge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11 counter-examples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Analysis Completion Status</a:t>
            </a:r>
          </a:p>
          <a:p>
            <a:pPr algn="l">
              <a:defRPr sz="1600">
                <a:solidFill>
                  <a:srgbClr val="BDC3C7"/>
                </a:solidFill>
              </a:defRPr>
            </a:pPr>
            <a:r>
              <a:t>5 Requirements + Additional Requests</a:t>
            </a:r>
          </a:p>
        </p:txBody>
      </p:sp>
      <p:pic>
        <p:nvPicPr>
          <p:cNvPr id="3" name="Picture 2" descr="dashboard_com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0972800" cy="46312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Q5: ML vs Statistical Ranking Reconciliation</a:t>
            </a:r>
          </a:p>
          <a:p>
            <a:pPr algn="l">
              <a:defRPr sz="1600">
                <a:solidFill>
                  <a:srgbClr val="BDC3C7"/>
                </a:solidFill>
              </a:defRPr>
            </a:pPr>
            <a:r>
              <a:t>MOST IMPORTANT - Reconciled Feature Ranking Top-5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96926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200400"/>
                <a:gridCol w="1097280"/>
                <a:gridCol w="1097280"/>
                <a:gridCol w="914400"/>
                <a:gridCol w="2743200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Stat Rank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ML Rank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PR3 Torque (Pinchroll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0.941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Pinchroll tension mgmt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FB Slave Torque (Block Mill)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0.933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Block mill load mgmt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PR6L2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0.876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Pinchroll 6 mgmt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Waste Gas Pressure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0.825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Furnace pressure mgmt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PR9L1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0.745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Pinchroll 9 mgmt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27AE60"/>
                </a:solidFill>
              </a:defRPr>
            </a:pPr>
            <a:r>
              <a:t>PR3 Torque: #1 across ALL steel grades (D5, N5, B5) — highest confidence</a:t>
            </a:r>
          </a:p>
          <a:p>
            <a:pPr>
              <a:defRPr sz="1300" b="0">
                <a:solidFill>
                  <a:srgbClr val="34495E"/>
                </a:solidFill>
              </a:defRPr>
            </a:pPr>
            <a:r>
              <a:t>FB Slave Torque: Stat rank 10 but ML rank 1 — ML captures nonlinear effect</a:t>
            </a:r>
          </a:p>
          <a:p>
            <a:pPr>
              <a:defRPr sz="1200" b="0">
                <a:solidFill>
                  <a:srgbClr val="7F8C8D"/>
                </a:solidFill>
              </a:defRPr>
            </a:pPr>
            <a:r>
              <a:t>Formula: Score = 0.4 x Stat(normalized) + 0.6 x ML(normalized)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Q5: Ranking Comparison — Statistical vs ML</a:t>
            </a:r>
          </a:p>
          <a:p>
            <a:pPr algn="l">
              <a:defRPr sz="1600">
                <a:solidFill>
                  <a:srgbClr val="BDC3C7"/>
                </a:solidFill>
              </a:defRPr>
            </a:pPr>
            <a:r>
              <a:t>Red lines = Large rank difference (&gt;5 positions)</a:t>
            </a:r>
          </a:p>
        </p:txBody>
      </p:sp>
      <p:pic>
        <p:nvPicPr>
          <p:cNvPr id="3" name="Picture 2" descr="chart1_bump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11430000" cy="81305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Q5: Grade-Specific Convergence</a:t>
            </a:r>
          </a:p>
          <a:p>
            <a:pPr algn="l">
              <a:defRPr sz="1600">
                <a:solidFill>
                  <a:srgbClr val="BDC3C7"/>
                </a:solidFill>
              </a:defRPr>
            </a:pPr>
            <a:r>
              <a:t>PR3 Torque = #1 across all steel grades</a:t>
            </a:r>
          </a:p>
        </p:txBody>
      </p:sp>
      <p:pic>
        <p:nvPicPr>
          <p:cNvPr id="3" name="Picture 2" descr="grad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486400" cy="4488528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371600"/>
          <a:ext cx="56692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31520"/>
                <a:gridCol w="731520"/>
                <a:gridCol w="731520"/>
                <a:gridCol w="731520"/>
                <a:gridCol w="109728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Overall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D5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N5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D4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Converge?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PR3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YES (3/3)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GAS FLOW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8th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5th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8th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D4 only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Stand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5th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8th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5th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Varies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384048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27AE60"/>
                </a:solidFill>
              </a:defRPr>
            </a:pPr>
            <a:r>
              <a:t>PR3 Torque converges as #1 regardless of grade</a:t>
            </a:r>
          </a:p>
          <a:p>
            <a:pPr>
              <a:defRPr sz="1300" b="0">
                <a:solidFill>
                  <a:srgbClr val="34495E"/>
                </a:solidFill>
              </a:defRPr>
            </a:pPr>
            <a:r>
              <a:t>MAIN_GAS_FLOW: strongest for D4 grade (rho=-0.185)</a:t>
            </a:r>
          </a:p>
          <a:p>
            <a:pPr>
              <a:defRPr sz="1200" b="0">
                <a:solidFill>
                  <a:srgbClr val="E74C3C"/>
                </a:solidFill>
              </a:defRPr>
            </a:pPr>
            <a:r>
              <a:t>B5: only 2 defects — excluded from analysis</a:t>
            </a:r>
          </a:p>
          <a:p>
            <a:pPr>
              <a:defRPr sz="1200" b="0">
                <a:solidFill>
                  <a:srgbClr val="7F8C8D"/>
                </a:solidFill>
              </a:defRPr>
            </a:pPr>
            <a:r>
              <a:t>Data: 4,952 coils matched with IBA (100% match rate)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Q5: Counter-Example Analysis</a:t>
            </a:r>
          </a:p>
          <a:p>
            <a:pPr algn="l">
              <a:defRPr sz="1600">
                <a:solidFill>
                  <a:srgbClr val="BDC3C7"/>
                </a:solidFill>
              </a:defRPr>
            </a:pPr>
            <a:r>
              <a:t>Data-driven proof for field persuasion</a:t>
            </a:r>
          </a:p>
        </p:txBody>
      </p:sp>
      <p:pic>
        <p:nvPicPr>
          <p:cNvPr id="3" name="Picture 2" descr="chart4_counter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760720" cy="3813571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371600"/>
          <a:ext cx="56692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640080"/>
                <a:gridCol w="1828800"/>
                <a:gridCol w="1828800"/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Days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Implication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A (Consensus)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Both methods agree,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actual defect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Both reliable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B (Stat Alarm)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Stat only says risk,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actually normal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14% false alarm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if Stat only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C (ML Superior)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ML only detects,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actual defect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ML catches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 more case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D (Undetected)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Both miss,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actual defect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Combined =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0 miss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56692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E74C3C"/>
                </a:solidFill>
              </a:defRPr>
            </a:pPr>
            <a:r>
              <a:t>Using Stat alone: 14% false alarm rate (18/127 days)</a:t>
            </a:r>
          </a:p>
          <a:p>
            <a:pPr>
              <a:defRPr sz="1300" b="1">
                <a:solidFill>
                  <a:srgbClr val="27AE60"/>
                </a:solidFill>
              </a:defRPr>
            </a:pPr>
            <a:r>
              <a:t>Combining both: 0% undetected (Type D = 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Q5: SHAP — ML Decision Process Transparency</a:t>
            </a:r>
          </a:p>
          <a:p>
            <a:pPr algn="l">
              <a:defRPr sz="1600">
                <a:solidFill>
                  <a:srgbClr val="BDC3C7"/>
                </a:solidFill>
              </a:defRPr>
            </a:pPr>
            <a:r>
              <a:t>How the ML model makes predictions (sensor tags only)</a:t>
            </a:r>
          </a:p>
        </p:txBody>
      </p:sp>
      <p:pic>
        <p:nvPicPr>
          <p:cNvPr id="3" name="Picture 2" descr="chart5_shap_summary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760720" cy="4369998"/>
          </a:xfrm>
          <a:prstGeom prst="rect">
            <a:avLst/>
          </a:prstGeom>
        </p:spPr>
      </p:pic>
      <p:pic>
        <p:nvPicPr>
          <p:cNvPr id="4" name="Picture 3" descr="chart6_shap_bar_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760720" cy="326810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Q1+Q2: Causality Analysis — Forward vs Reverse</a:t>
            </a:r>
          </a:p>
          <a:p>
            <a:pPr algn="l">
              <a:defRPr sz="1600">
                <a:solidFill>
                  <a:srgbClr val="BDC3C7"/>
                </a:solidFill>
              </a:defRPr>
            </a:pPr>
            <a:r>
              <a:t>Furnace leads, Torque follows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10058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3200400"/>
                <a:gridCol w="2286000"/>
              </a:tblGrid>
              <a:tr h="587828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Relationship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Direction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Evidence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PR3 Torque deficit -&gt; Torsion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FORWARD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RUN p=0.000011, OR=15.7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CONFIRMED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Furnace Pressure drop -&gt; Defect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FORWARD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RUN p=0.000021, all grades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CONFIRMED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TRANS/IDLE -&gt; Coiling defect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FORWARD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Defect rate 5.5x higher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CONFIRMED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Stand Torque variation -&gt; Defect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REVERSE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RUN filter: 0.0% gap (p=0.259)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Reverse causality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Billet Temp +32.5C -&gt; Defect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REVERSE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Coil-level: p=0.877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Reverse causality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Furnace Upper Temp -&gt; Defect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REVERSE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Coil-level: p=0.174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Reverse causality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2C7BE5"/>
                </a:solidFill>
              </a:defRPr>
            </a:pPr>
            <a:r>
              <a:t>RUN filter is the key tool: separates true signals from false signals caused by line stops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Q1+Q2: Process Flow — Furnace Impact Propagation</a:t>
            </a:r>
          </a:p>
          <a:p>
            <a:pPr algn="l">
              <a:defRPr sz="1600">
                <a:solidFill>
                  <a:srgbClr val="BDC3C7"/>
                </a:solidFill>
              </a:defRPr>
            </a:pPr>
            <a:r>
              <a:t>Stand 8 vs Furnace Pressure: rho=-0.722</a:t>
            </a:r>
          </a:p>
        </p:txBody>
      </p:sp>
      <p:pic>
        <p:nvPicPr>
          <p:cNvPr id="3" name="Picture 2" descr="chart1_process_flow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760720" cy="2497520"/>
          </a:xfrm>
          <a:prstGeom prst="rect">
            <a:avLst/>
          </a:prstGeom>
        </p:spPr>
      </p:pic>
      <p:pic>
        <p:nvPicPr>
          <p:cNvPr id="4" name="Picture 3" descr="chart3_stand8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760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42062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E74C3C"/>
                </a:solidFill>
              </a:defRPr>
            </a:pPr>
            <a:r>
              <a:t>Stand 8 vs Furnace: rho=-0.722 (p&lt;0.001)</a:t>
            </a:r>
          </a:p>
          <a:p>
            <a:pPr>
              <a:defRPr sz="1300" b="0">
                <a:solidFill>
                  <a:srgbClr val="34495E"/>
                </a:solidFill>
              </a:defRPr>
            </a:pPr>
            <a:r>
              <a:t>Furnace Pressure vs Defect: rho=-0.263 (p=0.003)</a:t>
            </a:r>
          </a:p>
          <a:p>
            <a:pPr>
              <a:defRPr sz="1300" b="0">
                <a:solidFill>
                  <a:srgbClr val="34495E"/>
                </a:solidFill>
              </a:defRPr>
            </a:pPr>
            <a:r>
              <a:t>All 10 CCF pairs significant — but lag=0 (daily aggregation limit)</a:t>
            </a:r>
          </a:p>
          <a:p>
            <a:pPr>
              <a:defRPr sz="1200" b="0">
                <a:solidFill>
                  <a:srgbClr val="7F8C8D"/>
                </a:solidFill>
              </a:defRPr>
            </a:pPr>
            <a:r>
              <a:t>Physical lag estimate: ~1-2 min (furnace to pinchroll)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Q4: Stand 14 &amp; Block Mill — avg vs std</a:t>
            </a:r>
          </a:p>
          <a:p>
            <a:pPr algn="l">
              <a:defRPr sz="1600">
                <a:solidFill>
                  <a:srgbClr val="BDC3C7"/>
                </a:solidFill>
              </a:defRPr>
            </a:pPr>
            <a:r>
              <a:t>"avg is NOT significant, but std IS significant"</a:t>
            </a:r>
          </a:p>
        </p:txBody>
      </p:sp>
      <p:pic>
        <p:nvPicPr>
          <p:cNvPr id="3" name="Picture 2" descr="chart2_avg_vs_st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760720" cy="2551413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371600"/>
          <a:ext cx="52120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640080"/>
                <a:gridCol w="731520"/>
                <a:gridCol w="640080"/>
                <a:gridCol w="914400"/>
                <a:gridCol w="914400"/>
              </a:tblGrid>
              <a:tr h="585216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avg rho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avg 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std rho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std 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Stand 14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0.087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n.s.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0.351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0.00005***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std ONLY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FB Slave Torque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0.491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&lt;0.001***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ML #1 tag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FB Master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0.322***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0.0002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0.491***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&lt;0.001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Both sig.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Stand 14 Speed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0.202*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0.023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0.363***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0.00003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std stronger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4572000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E74C3C"/>
                </a:solidFill>
              </a:defRPr>
            </a:pPr>
            <a:r>
              <a:t>Previous finding "small signal" was based on avg only</a:t>
            </a:r>
          </a:p>
          <a:p>
            <a:pPr>
              <a:defRPr sz="1300" b="1">
                <a:solidFill>
                  <a:srgbClr val="27AE60"/>
                </a:solidFill>
              </a:defRPr>
            </a:pPr>
            <a:r>
              <a:t>Variability (std) is the real indicator of process instability</a:t>
            </a:r>
          </a:p>
          <a:p>
            <a:pPr>
              <a:defRPr sz="1300" b="0">
                <a:solidFill>
                  <a:srgbClr val="34495E"/>
                </a:solidFill>
              </a:defRPr>
            </a:pPr>
            <a:r>
              <a:t>FB Slave Torque std = ML #1 + Spearman rho=0.491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Q4: Defect Type Analysis — Stand 14 &amp; Block Mill</a:t>
            </a:r>
          </a:p>
          <a:p>
            <a:pPr algn="l">
              <a:defRPr sz="1600">
                <a:solidFill>
                  <a:srgbClr val="BDC3C7"/>
                </a:solidFill>
              </a:defRPr>
            </a:pPr>
            <a:r>
              <a:t>FB Slave Torque std significant across ALL defect types</a:t>
            </a:r>
          </a:p>
        </p:txBody>
      </p:sp>
      <p:pic>
        <p:nvPicPr>
          <p:cNvPr id="3" name="Picture 2" descr="defect_typ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0972800" cy="63500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Q3: Management Standards by Grade</a:t>
            </a:r>
          </a:p>
          <a:p>
            <a:pPr algn="l">
              <a:defRPr sz="1600">
                <a:solidFill>
                  <a:srgbClr val="BDC3C7"/>
                </a:solidFill>
              </a:defRPr>
            </a:pPr>
            <a:r>
              <a:t>Measurement-based provisional standards (Setpoint data not yet available)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100584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31520"/>
                <a:gridCol w="2286000"/>
                <a:gridCol w="1371600"/>
                <a:gridCol w="1097280"/>
                <a:gridCol w="228600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Grade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Normal (Q10~Q90)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Defect Mean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Alert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MAIN_GAS_FLOW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701 ~ 2,680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471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-75.2%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Gas flow drop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MAIN_GAS_FLOW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N5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1,191 ~ 2,932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1,326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-40.6%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Gas flow drop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PR3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D5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25 ~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89.8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+87.6%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Excessive torque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PR3 Torque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N5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35 ~ 100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72.3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+41.5%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High torque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Stand 8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2.7 ~ 45.5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20.3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-43.9%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Torque deficit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Billet Temp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D5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1,052 ~ 1,156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1,094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+5.0%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Low temp defect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E74C3C"/>
                </a:solidFill>
              </a:defRPr>
            </a:pPr>
            <a:r>
              <a:t>Setpoint (SP) data needed from MES/Level 2 for Gap quantification</a:t>
            </a:r>
          </a:p>
          <a:p>
            <a:pPr>
              <a:defRPr sz="1200" b="0">
                <a:solidFill>
                  <a:srgbClr val="7F8C8D"/>
                </a:solidFill>
              </a:defRPr>
            </a:pPr>
            <a:r>
              <a:t>Current: measurement-based (Alternative B) — normal coil Q10~Q90 as standard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Q3: Normal vs Defect Distribution by Grade</a:t>
            </a:r>
          </a:p>
          <a:p>
            <a:pPr algn="l">
              <a:defRPr sz="1600">
                <a:solidFill>
                  <a:srgbClr val="BDC3C7"/>
                </a:solidFill>
              </a:defRPr>
            </a:pPr>
            <a:r>
              <a:t>Blue=Normal, Red=Defect, Green band=Q10~Q90 range</a:t>
            </a:r>
          </a:p>
        </p:txBody>
      </p:sp>
      <p:pic>
        <p:nvPicPr>
          <p:cNvPr id="3" name="Picture 2" descr="grade_distribu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430000" cy="905797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Recommended Actions — Equipment &amp; Tag Priority</a:t>
            </a:r>
          </a:p>
          <a:p>
            <a:pPr algn="l">
              <a:defRPr sz="1600">
                <a:solidFill>
                  <a:srgbClr val="BDC3C7"/>
                </a:solidFill>
              </a:defRPr>
            </a:pPr>
            <a:r>
              <a:t>Top-5 management targets based on 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828800"/>
                <a:gridCol w="2743200"/>
                <a:gridCol w="2286000"/>
                <a:gridCol w="3200400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Priority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Equipment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Standard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Pinchroll PR3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PR3_REF_TORQUE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35~100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Alert when &lt;10 (D5-D10)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Block Mill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FB_SLAVE_TORQUE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4~61 (D5)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Monitor std variability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Furnace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WASTE_GAS_PRESSURE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10.1~35.3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Alert when &lt;=0.48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Furnace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MAIN_GAS_FLOW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701~2,680 (D4)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D4: Gap -75% alert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Stand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STAND_8_TORQUE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0~40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Furnace propagation monitor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2C7BE5"/>
                </a:solidFill>
              </a:defRPr>
            </a:pPr>
            <a:r>
              <a:t>Items requiring field confirmation:</a:t>
            </a:r>
          </a:p>
          <a:p>
            <a:pPr lvl="1">
              <a:defRPr sz="1300" b="0">
                <a:solidFill>
                  <a:srgbClr val="34495E"/>
                </a:solidFill>
              </a:defRPr>
            </a:pPr>
            <a:r>
              <a:t>Specific adjustment methods (direction, amount) per equipment</a:t>
            </a:r>
          </a:p>
          <a:p>
            <a:pPr lvl="1">
              <a:defRPr sz="1300" b="0">
                <a:solidFill>
                  <a:srgbClr val="34495E"/>
                </a:solidFill>
              </a:defRPr>
            </a:pPr>
            <a:r>
              <a:t>Responsible personnel and adjustment protocols</a:t>
            </a:r>
          </a:p>
          <a:p>
            <a:pPr lvl="1">
              <a:defRPr sz="1300" b="0">
                <a:solidFill>
                  <a:srgbClr val="34495E"/>
                </a:solidFill>
              </a:defRPr>
            </a:pPr>
            <a:r>
              <a:t>Alert system integration method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Constraints &amp; Next Steps</a:t>
            </a:r>
          </a:p>
          <a:p>
            <a:pPr algn="l">
              <a:defRPr sz="1600">
                <a:solidFill>
                  <a:srgbClr val="BDC3C7"/>
                </a:solidFill>
              </a:defRPr>
            </a:pPr>
            <a:r>
              <a:t>Items requiring external data or time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95097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00400"/>
                <a:gridCol w="1097280"/>
                <a:gridCol w="1097280"/>
                <a:gridCol w="365760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Owner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Resolution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OPERATION_STATUS not in 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Internal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Preprocessing script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Furnace Setpoint data missing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FIELD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MES/Level 2 CSV export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315 analysis: 75 days missing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(Mar-May 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Raw data request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B5 grade: only 2 defects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Exclude + accumulate 3-6mo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Daily aggregation lag=0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Internal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1-min interval CCF</a:t>
                      </a:r>
                    </a:p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(after #1 resolved)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chart4_data_period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486400"/>
            <a:ext cx="5486400" cy="1097280"/>
          </a:xfrm>
          <a:prstGeom prst="rect">
            <a:avLst/>
          </a:prstGeom>
        </p:spPr>
      </p:pic>
      <p:pic>
        <p:nvPicPr>
          <p:cNvPr id="5" name="Picture 4" descr="chart5_grade_suffici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5486400"/>
            <a:ext cx="548640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C3C7"/>
                </a:solidFill>
              </a:defRPr>
            </a:pPr>
            <a:r>
              <a:t>DH Steel IBA Data Profile — Process-Defect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5A5A6"/>
                </a:solidFill>
              </a:defRPr>
            </a:pPr>
            <a:r>
              <a:t>2026.03.31 | For further inquiries, please contact via phone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