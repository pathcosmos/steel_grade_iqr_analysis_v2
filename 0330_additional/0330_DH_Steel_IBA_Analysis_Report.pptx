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DH Steel IBA Data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C3C7"/>
                </a:solidFill>
              </a:defRPr>
            </a:pPr>
            <a:r>
              <a:t>Process-Defect Correlation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  |  Analysis: 2025.05~08 + 2026.01~02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Customer Requirements (5 Items) + Additional Requests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Key Findings — Direct Answers to Customer Questions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052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2926080"/>
                <a:gridCol w="292608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Answer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Variability first or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defect first?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confirmed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(3 forward + 3 reverse)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filter separates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true/false signals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or Torque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leads first?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leads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Stand8 vs Furnace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rho = -0.722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Management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standards?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Provided by grade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(Alternative 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Gas Flow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Gap = -75.2%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Why Stand14 /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 small?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avg NOT significant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IS significant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rho = 0.351***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vs Stat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ranking mismatch?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Reconciled Top-5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=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3/3 grades converge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11 counter-examples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Analysis Completion Status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5 Requirements + Additional Requests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0847" y="182880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0"/>
                <a:gridCol w="914400"/>
                <a:gridCol w="530352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Deliverables</a:t>
                      </a:r>
                    </a:p>
                  </a:txBody>
                  <a:tcPr marL="73152" marR="73152" marT="36576" marB="36576">
                    <a:solidFill>
                      <a:srgbClr val="1B2A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ML vs Stat Ranking Reconciliation (Most Important)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Reconciled Ranking, 11 Counter-examples, SHAP x3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1+2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Causality + Furnace vs Torque Priority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CCF 10 pairs, Stand 8 Analysis, Process Flow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Stand 14 &amp; Block Mill Re-examination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avg/std Separation, Defect Type Correlation</a:t>
                      </a:r>
                    </a:p>
                  </a:txBody>
                  <a:tcPr marL="73152" marR="73152" marT="36576" marB="36576"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Setpoint Gap + Management Standards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Alternative B (Measurement-based), Setpoint N/A</a:t>
                      </a:r>
                    </a:p>
                  </a:txBody>
                  <a:tcPr marL="73152" marR="73152" marT="36576" marB="36576">
                    <a:solidFill>
                      <a:srgbClr val="EBF5F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Add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Process Flow Direction + Stand 8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4495E"/>
                          </a:solidFill>
                        </a:defRPr>
                      </a:pPr>
                      <a:r>
                        <a:t>Physical Lag Estimation, Reverse Hypothesis</a:t>
                      </a:r>
                    </a:p>
                  </a:txBody>
                  <a:tcPr marL="73152" marR="73152" marT="36576" marB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Reconciled Feature Ranking Top-5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MOST IMPORTANT — Unified ranking for field recommendation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326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474720"/>
                <a:gridCol w="640080"/>
                <a:gridCol w="640080"/>
                <a:gridCol w="73152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(Pinchroll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tension mgmt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 (Block Mill)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 load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PR6L2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6 mgmt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Waste Gas Pressure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mgmt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PR9L1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9 mgmt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PR3 Torque: #1 across ALL steel grades (D5, N5, B5) — highest confidence</a:t>
            </a: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FB Slave Torque: Stat rank 10 -&gt; ML rank 1 — ML captures nonlinear effect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Score = 0.4 x Stat(normalized) + 0.6 x ML(normalized)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ML weight 0.6 reason: controls confounding, consistent with RUN filter results, no reverse causality errors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Ranking Comparison — Statistical vs ML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Red lines = Large rank difference (&gt;5 positions)</a:t>
            </a:r>
          </a:p>
        </p:txBody>
      </p:sp>
      <p:pic>
        <p:nvPicPr>
          <p:cNvPr id="3" name="Picture 2" descr="chart1_bump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624" y="1280160"/>
            <a:ext cx="7584271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Grade-Specific Convergence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PR3 Torque = #1 across all steel grades</a:t>
            </a:r>
          </a:p>
        </p:txBody>
      </p:sp>
      <p:pic>
        <p:nvPicPr>
          <p:cNvPr id="3" name="Picture 2" descr="grad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48852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"/>
                <a:gridCol w="548640"/>
                <a:gridCol w="548640"/>
                <a:gridCol w="548640"/>
                <a:gridCol w="109728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Converge?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YES (3/3)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3rd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6th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Consistent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PR3 Torque: #1 regardless of grade — most reliable tag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MAIN_GAS_FLOW: strongest for D4 (rho=-0.185)</a:t>
            </a:r>
          </a:p>
          <a:p>
            <a:pPr>
              <a:defRPr sz="1200" b="0">
                <a:solidFill>
                  <a:srgbClr val="E74C3C"/>
                </a:solidFill>
              </a:defRPr>
            </a:pPr>
            <a:r>
              <a:t>B5: only 2 defects — excluded from grade analysis</a:t>
            </a:r>
          </a:p>
          <a:p>
            <a:pPr>
              <a:defRPr sz="1100" b="0">
                <a:solidFill>
                  <a:srgbClr val="7F8C8D"/>
                </a:solidFill>
              </a:defRPr>
            </a:pPr>
            <a:r>
              <a:t>Coil-IBA matching: 4,952 coils, 100% match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Counter-Example Analysis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Data-driven proof for field persuasion</a:t>
            </a:r>
          </a:p>
        </p:txBody>
      </p:sp>
      <p:pic>
        <p:nvPicPr>
          <p:cNvPr id="3" name="Picture 2" descr="chart4_counte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363197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5029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1645920"/>
                <a:gridCol w="164592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 Consensus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agree,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reliable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 Stat Alarm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Stat only risk,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actually normal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14% false alarm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if Stat only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 ML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only detects,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catches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 more case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 Undetected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 miss,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actual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Combined =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 miss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5029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Stat alone: 14% false alarm rate (18/127 days)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Combined: 0% undetected (Type D = 0)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"Stat and ML answer different questions"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Q5: SHAP — ML Decision Transparency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Sensor tags only (defect features excluded)</a:t>
            </a:r>
          </a:p>
        </p:txBody>
      </p:sp>
      <p:pic>
        <p:nvPicPr>
          <p:cNvPr id="3" name="Picture 2" descr="chart5_shap_summary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300632"/>
          </a:xfrm>
          <a:prstGeom prst="rect">
            <a:avLst/>
          </a:prstGeom>
        </p:spPr>
      </p:pic>
      <p:pic>
        <p:nvPicPr>
          <p:cNvPr id="4" name="Picture 3" descr="chart6_shap_bar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162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Causality — Forward vs Reverse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3 forward confirmed + 3 reverse confirmed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2926080"/>
                <a:gridCol w="22860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Relationship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 deficit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Torsion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p=0.000011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OR=15.7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Pressure drop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 p=0.000021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All grades consistent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TRANS/IDLE state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Coiling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Defect rate 5.5x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higher in non-RUN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Torque variation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RUN: 0.0% gap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p=0.259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Billet Temp +32.5C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Coil-level: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Upper Temp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-&gt; Defect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Coil-level: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p=0.174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Reverse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causality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C7BE5"/>
                </a:solidFill>
              </a:defRPr>
            </a:pPr>
            <a:r>
              <a:t>KEY: RUN filter (normal operation only) is the decisive tool for separating true vs false signals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Q1+Q2: Process Flow — Furnace Leads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Stand 8 vs Furnace Pressure: rho = -0.722 (p&lt;0.001)</a:t>
            </a:r>
          </a:p>
        </p:txBody>
      </p:sp>
      <p:pic>
        <p:nvPicPr>
          <p:cNvPr id="3" name="Picture 2" descr="chart2_ccf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99" y="1280160"/>
            <a:ext cx="4840120" cy="2743200"/>
          </a:xfrm>
          <a:prstGeom prst="rect">
            <a:avLst/>
          </a:prstGeom>
        </p:spPr>
      </p:pic>
      <p:pic>
        <p:nvPicPr>
          <p:cNvPr id="4" name="Picture 3" descr="chart3_stand8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206240"/>
            <a:ext cx="5669280" cy="1954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E74C3C"/>
                </a:solidFill>
              </a:defRPr>
            </a:pPr>
            <a:r>
              <a:t>Stand 8 vs Furnace: rho=-0.722 (p&lt;0.001)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  Furnace pressure down -&gt; Stand 8 torque up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34495E"/>
                </a:solidFill>
              </a:defRPr>
            </a:pPr>
            <a:r>
              <a:t>Furnace Pressure vs Defect: rho=-0.263 (p=0.003)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0">
                <a:solidFill>
                  <a:srgbClr val="34495E"/>
                </a:solidFill>
              </a:defRPr>
            </a:pPr>
            <a:r>
              <a:t>Cross-Correlation 10 pairs: all significant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But lag=0 (daily aggregation limitation)</a:t>
            </a:r>
          </a:p>
          <a:p>
            <a:pPr lvl="1">
              <a:defRPr sz="1200" b="0">
                <a:solidFill>
                  <a:srgbClr val="7F8C8D"/>
                </a:solidFill>
              </a:defRPr>
            </a:pPr>
            <a:r>
              <a:t>  Physical lag estimate: ~1-2 min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Priority actions: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1. Furnace pressure &lt;= 0.48: ALERT (all grades)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2. MAIN_GAS_FLOW management (D4: Gap -75%)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3. PR3 Torque &lt; 10: ALERT (D5-D10)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Stand 14 &amp; Block Mill — avg vs std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"Average is NOT significant, but Variability IS significant"</a:t>
            </a:r>
          </a:p>
        </p:txBody>
      </p:sp>
      <p:pic>
        <p:nvPicPr>
          <p:cNvPr id="3" name="Picture 2" descr="chart2_avg_vs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251091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371600"/>
          <a:ext cx="4846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731520"/>
                <a:gridCol w="640080"/>
                <a:gridCol w="91440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 rho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std 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n.s.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0.00005***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ONLY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Slave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ML #1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 Master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0.322***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0.491***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Stand14 Speed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0.202*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0.363***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0.00003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std &gt; avg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4114800"/>
            <a:ext cx="5486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"Small signal" was because avg was used</a:t>
            </a: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Variability (std) = real indicator of instability</a:t>
            </a:r>
          </a:p>
          <a:p>
            <a:pPr>
              <a:defRPr sz="1200" b="0">
                <a:solidFill>
                  <a:srgbClr val="34495E"/>
                </a:solidFill>
              </a:defRPr>
            </a:pPr>
            <a:r>
              <a:t>FB Slave Torque std = ML #1 + rho=0.491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Previous "weak signal" verdict must be REVISED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Q4: Defect Type Breakdown — Stand 14 &amp; Block Mill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FB Slave Torque std: significant across ALL defect types</a:t>
            </a:r>
          </a:p>
        </p:txBody>
      </p:sp>
      <p:pic>
        <p:nvPicPr>
          <p:cNvPr id="3" name="Picture 2" descr="defect_typ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577" y="1280160"/>
            <a:ext cx="9322365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Management Standards by Grade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Measurement-based (Setpoint data not yet available)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95097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2011680"/>
                <a:gridCol w="1097280"/>
                <a:gridCol w="1097280"/>
                <a:gridCol w="22860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Grade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(Q10~Q90)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Defect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Alert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1,191~2,932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1,326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Gas flow drop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Excessive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 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72.3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+41.5%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 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2.7~45.5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Deficit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Billet Temp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1,052~1,156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1,094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Low temp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E74C3C"/>
                </a:solidFill>
              </a:defRPr>
            </a:pPr>
            <a:r>
              <a:t>Setpoint (SP) data needed from MES/Level 2 for true Gap analysis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Current: Alternative B — normal coil Q10~Q90 as provisional standard</a:t>
            </a:r>
          </a:p>
          <a:p>
            <a:pPr>
              <a:defRPr sz="1200" b="0">
                <a:solidFill>
                  <a:srgbClr val="7F8C8D"/>
                </a:solidFill>
              </a:defRPr>
            </a:pPr>
            <a:r>
              <a:t>Seasonal consideration: only winter (Jan-Feb) data — spring/summer comparison pending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Q3: Normal vs Defect Distribution by Grade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Blue=Normal, Red=Defect, Green band=Q10~Q90</a:t>
            </a:r>
          </a:p>
        </p:txBody>
      </p:sp>
      <p:pic>
        <p:nvPicPr>
          <p:cNvPr id="3" name="Picture 2" descr="grade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887" y="1280160"/>
            <a:ext cx="6807744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Recommended Actions — Equipment &amp; Tag Priority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Top-5 targets based on Reconciled Ranking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2286000"/>
                <a:gridCol w="2286000"/>
                <a:gridCol w="32004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Pinchroll PR3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PR3_REF_TORQUE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35~100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Alert when &lt;10 (D5-D10)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Block Mill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FB_SLAVE_TORQUE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4~61 (D5)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Monitor std variability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WASTE_GAS_PRESS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10.1~35.3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Alert when &lt;=0.48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MAIN_GAS_FLOW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701~2,680 (D4)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D4: Gap -75% alert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STAND_8_TORQUE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0~40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propagation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495E"/>
                </a:solidFill>
              </a:defRPr>
            </a:pPr>
          </a:p>
          <a:p>
            <a:pPr>
              <a:defRPr sz="1400" b="1">
                <a:solidFill>
                  <a:srgbClr val="2C7BE5"/>
                </a:solidFill>
              </a:defRPr>
            </a:pPr>
            <a:r>
              <a:t>Field confirmation needed: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Specific adjustment methods per equipment (direction, amount)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Responsible personnel and adjustment protocols</a:t>
            </a:r>
          </a:p>
          <a:p>
            <a:pPr lvl="1">
              <a:defRPr sz="1200" b="0">
                <a:solidFill>
                  <a:srgbClr val="34495E"/>
                </a:solidFill>
              </a:defRPr>
            </a:pPr>
            <a:r>
              <a:t>Alert system integration</a:t>
            </a:r>
          </a:p>
          <a:p>
            <a:pPr>
              <a:defRPr sz="800" b="0">
                <a:solidFill>
                  <a:srgbClr val="34495E"/>
                </a:solidFill>
              </a:defRPr>
            </a:pPr>
          </a:p>
          <a:p>
            <a:pPr>
              <a:defRPr sz="1300" b="1">
                <a:solidFill>
                  <a:srgbClr val="27AE60"/>
                </a:solidFill>
              </a:defRPr>
            </a:pPr>
            <a:r>
              <a:t>Data collection &amp; system design should also reflect these findings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09728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Constraints &amp; Next Steps</a:t>
            </a:r>
          </a:p>
          <a:p>
            <a:pPr>
              <a:defRPr sz="1400">
                <a:solidFill>
                  <a:srgbClr val="BDC3C7"/>
                </a:solidFill>
              </a:defRPr>
            </a:pPr>
            <a:r>
              <a:t>Items requiring external data or time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914400"/>
                <a:gridCol w="914400"/>
                <a:gridCol w="22860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OPERATION_STATUS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not in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Preprocessing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Furnace Setpoint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data missing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MES/Level 2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CSV export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315 analysis: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75 days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Raw data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request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B5 grade: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only 2 defects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Exclude +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3-6mo accumulate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Daily lag=0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1-min CCF</a:t>
                      </a:r>
                    </a:p>
                    <a:p>
                      <a:pPr>
                        <a:defRPr sz="1000">
                          <a:solidFill>
                            <a:srgbClr val="34495E"/>
                          </a:solidFill>
                        </a:defRPr>
                      </a:pPr>
                      <a:r>
                        <a:t>(after #1)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hart4_data_perio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754880"/>
            <a:ext cx="5669280" cy="1585223"/>
          </a:xfrm>
          <a:prstGeom prst="rect">
            <a:avLst/>
          </a:prstGeom>
        </p:spPr>
      </p:pic>
      <p:pic>
        <p:nvPicPr>
          <p:cNvPr id="5" name="Picture 4" descr="chart5_grade_su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120" y="4754880"/>
            <a:ext cx="434287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DH Steel IBA Data Profile — Process-Defect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</a:defRPr>
            </a:pPr>
            <a:r>
              <a:t>2026.03.31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