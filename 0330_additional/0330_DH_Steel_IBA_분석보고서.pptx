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DH Steel IBA 데이터 프로파일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DC3C7"/>
                </a:solidFill>
              </a:defRPr>
            </a:pPr>
            <a:r>
              <a:t>공정-불량 상관분석 결과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5A5A6"/>
                </a:solidFill>
              </a:defRPr>
            </a:pPr>
            <a:r>
              <a:t>2026.03.31  |  분석 기간: 2025.05~08 + 2026.01~02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고객 요구사항 5건 + 추가 요청 분석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5A5A6"/>
                </a:solidFill>
              </a:defRPr>
            </a:pPr>
            <a:r>
              <a:t>중간 보고 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핵심 요약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고객 질문에 대한 직접 답변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90525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2926080"/>
                <a:gridCol w="2926080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질문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답변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핵심 근거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수치 변동이 먼저?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불량이 먼저?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둘 다 확정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(순방향 3건 + 역인과 3건)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RUN 필터로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진짜/거짓 구분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가열로와 토크 중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어느 것이 선행?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가열로가 선행 지표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Stand 8 vs 가열로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rho = -0.722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관리 기준 제시?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강종별 잠정 기준 제시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(대안 B: 실측값 기반)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D4 가스유량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Gap = -75.2%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Stand 14/블록밀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왜 작게 나오나?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평균(avg)은 비유의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변동성(std)은 유의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std rho = 0.351***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ML vs 통계 순위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너무 다른 문제?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통합 순위 Top-5 도출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PR3 토크 = 1위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3/3 강종 수렴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반증 사례 11건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분석 완료 현황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5건 요구사항 + 추가 요청</a:t>
            </a:r>
          </a:p>
        </p:txBody>
      </p:sp>
      <p:pic>
        <p:nvPicPr>
          <p:cNvPr id="3" name="Picture 2" descr="customer_requirements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0"/>
            <a:ext cx="11277295" cy="36073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Q5: 통합 Feature 순위 Top-5 (가장 중요)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통계와 ML을 종합한 현장 권고 순위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9326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474720"/>
                <a:gridCol w="640080"/>
                <a:gridCol w="640080"/>
                <a:gridCol w="731520"/>
                <a:gridCol w="320040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태그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통계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ML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통합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점수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현장 의미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PR3 토크 (핀치롤 3 기준 토크)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핀치롤 장력 관리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FB Slave 토크 (블록밀 종동 토크)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0.933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블록밀 부하 관리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PR6L2 토크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0.876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핀치롤 6 관리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폐가스 압력 (가열로)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0.825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가열로 압력 관리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PR9L1 토크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핀치롤 9 관리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495E"/>
                </a:solidFill>
              </a:defRPr>
            </a:pPr>
          </a:p>
          <a:p>
            <a:pPr>
              <a:defRPr sz="1400" b="1">
                <a:solidFill>
                  <a:srgbClr val="27AE60"/>
                </a:solidFill>
              </a:defRPr>
            </a:pPr>
            <a:r>
              <a:t>PR3 토크: 전체/D5/N5/B5 모든 강종에서 1위 — 신뢰도 최고</a:t>
            </a:r>
          </a:p>
          <a:p>
            <a:pPr>
              <a:defRPr sz="1300" b="0">
                <a:solidFill>
                  <a:srgbClr val="34495E"/>
                </a:solidFill>
              </a:defRPr>
            </a:pPr>
            <a:r>
              <a:t>FB Slave 토크: 통계 10위 → ML 1위 — ML이 비선형 효과 포착</a:t>
            </a:r>
          </a:p>
          <a:p>
            <a:pPr>
              <a:defRPr sz="1100" b="0">
                <a:solidFill>
                  <a:srgbClr val="7F8C8D"/>
                </a:solidFill>
              </a:defRPr>
            </a:pPr>
            <a:r>
              <a:t>산정 방식: 통합 점수 = 0.4 × 통계(정규화) + 0.6 × ML(정규화)</a:t>
            </a:r>
          </a:p>
          <a:p>
            <a:pPr>
              <a:defRPr sz="1100" b="0">
                <a:solidFill>
                  <a:srgbClr val="7F8C8D"/>
                </a:solidFill>
              </a:defRPr>
            </a:pPr>
            <a:r>
              <a:t>ML 가중치 0.6 근거: confounding 통제, RUN 필터 결과와 일관, 역인과 오류 없음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Q5: 통계 vs ML 순위 비교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빨간 선 = 순위 차이 5 이상</a:t>
            </a:r>
          </a:p>
        </p:txBody>
      </p:sp>
      <p:pic>
        <p:nvPicPr>
          <p:cNvPr id="3" name="Picture 2" descr="chart1_bump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624" y="1280160"/>
            <a:ext cx="7584271" cy="53949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Q5: 강종별 순위 수렴 확인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PR3 토크 = 모든 강종에서 1위</a:t>
            </a:r>
          </a:p>
        </p:txBody>
      </p:sp>
      <p:pic>
        <p:nvPicPr>
          <p:cNvPr id="3" name="Picture 2" descr="grad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486400" cy="448852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371600"/>
          <a:ext cx="4754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48640"/>
                <a:gridCol w="548640"/>
                <a:gridCol w="548640"/>
                <a:gridCol w="548640"/>
                <a:gridCol w="109728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태그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전체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D5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N5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수렴?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PR3 토크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YES (3/3)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가스 유량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8위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5위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8위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1위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D4만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Stand 8 토크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5위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8위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5위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3위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강종별 상이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FB Slave 토크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4위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3위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6위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6위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일관적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3749039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495E"/>
                </a:solidFill>
              </a:defRPr>
            </a:pPr>
          </a:p>
          <a:p>
            <a:pPr>
              <a:defRPr sz="1300" b="1">
                <a:solidFill>
                  <a:srgbClr val="27AE60"/>
                </a:solidFill>
              </a:defRPr>
            </a:pPr>
            <a:r>
              <a:t>PR3 토크: 강종 무관 1위 — 가장 신뢰할 수 있는 관리 태그</a:t>
            </a:r>
          </a:p>
          <a:p>
            <a:pPr>
              <a:defRPr sz="1200" b="0">
                <a:solidFill>
                  <a:srgbClr val="34495E"/>
                </a:solidFill>
              </a:defRPr>
            </a:pPr>
            <a:r>
              <a:t>MAIN_GAS_FLOW: D4 강종에서 가장 강력 (rho=-0.185)</a:t>
            </a:r>
          </a:p>
          <a:p>
            <a:pPr>
              <a:defRPr sz="1200" b="0">
                <a:solidFill>
                  <a:srgbClr val="E74C3C"/>
                </a:solidFill>
              </a:defRPr>
            </a:pPr>
            <a:r>
              <a:t>B5: 불량 2건으로 강종별 분석 제외</a:t>
            </a:r>
          </a:p>
          <a:p>
            <a:pPr>
              <a:defRPr sz="1100" b="0">
                <a:solidFill>
                  <a:srgbClr val="7F8C8D"/>
                </a:solidFill>
              </a:defRPr>
            </a:pPr>
            <a:r>
              <a:t>코일-IBA 매칭: 4,952건 중 4,952건 성공 (100%)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Q5: 반증 사례 분석 — 데이터로 증명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현장 설득을 위한 4유형 분류</a:t>
            </a:r>
          </a:p>
        </p:txBody>
      </p:sp>
      <p:pic>
        <p:nvPicPr>
          <p:cNvPr id="3" name="Picture 2" descr="chart4_counter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486400" cy="363197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371600"/>
          <a:ext cx="50292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48640"/>
                <a:gridCol w="1645920"/>
                <a:gridCol w="1645920"/>
              </a:tblGrid>
              <a:tr h="69494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유형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일수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의미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시사점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A 합의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26일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통계·ML 모두 위험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실제 불량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두 방법 모두 신뢰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B 통계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과대경보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18일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통계만 위험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실제 정상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통계 단독 사용 시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14% 오경보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C ML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우위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ML만 탐지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실제 불량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ML이 추가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1건 탐지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D 미탐지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0일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두 방법 모두 정상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실제 불량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병용 시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미탐지 0건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502920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495E"/>
                </a:solidFill>
              </a:defRPr>
            </a:pPr>
          </a:p>
          <a:p>
            <a:pPr>
              <a:defRPr sz="1300" b="1">
                <a:solidFill>
                  <a:srgbClr val="E74C3C"/>
                </a:solidFill>
              </a:defRPr>
            </a:pPr>
            <a:r>
              <a:t>통계만 사용: 14% 오경보율 (18/127일)</a:t>
            </a:r>
          </a:p>
          <a:p>
            <a:pPr>
              <a:defRPr sz="1300" b="1">
                <a:solidFill>
                  <a:srgbClr val="27AE60"/>
                </a:solidFill>
              </a:defRPr>
            </a:pPr>
            <a:r>
              <a:t>두 방법 병용: 미탐지 0건 (상호 보완)</a:t>
            </a:r>
          </a:p>
          <a:p>
            <a:pPr>
              <a:defRPr sz="1200" b="0">
                <a:solidFill>
                  <a:srgbClr val="7F8C8D"/>
                </a:solidFill>
              </a:defRPr>
            </a:pPr>
            <a:r>
              <a:t>"통계와 ML은 다른 질문에 답한다"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Q5: SHAP 분석 — ML 판단 근거 시각화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센서 태그만 표시 (불량 관련 피처 제외)</a:t>
            </a:r>
          </a:p>
        </p:txBody>
      </p:sp>
      <p:pic>
        <p:nvPicPr>
          <p:cNvPr id="3" name="Picture 2" descr="chart5_shap_summary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669280" cy="4300632"/>
          </a:xfrm>
          <a:prstGeom prst="rect">
            <a:avLst/>
          </a:prstGeom>
        </p:spPr>
      </p:pic>
      <p:pic>
        <p:nvPicPr>
          <p:cNvPr id="4" name="Picture 3" descr="chart6_shap_bar_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669280" cy="32162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Q1+Q2: 인과관계 분석 — 순방향 vs 역인과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순방향 3건 확정 + 역인과 3건 확정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9326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914400"/>
                <a:gridCol w="2926080"/>
                <a:gridCol w="274320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관계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방향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근거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판정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PR3 토크 부족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→ 토션 불량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순방향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RUN p=0.000011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OR=15.7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확정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가열로 압력 저하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→ 누워감김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순방향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RUN p=0.000021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전 강종 일관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확정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TRANS/IDLE 상태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→ 권취불량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순방향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불량률 5.5배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비가동 시 집중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확정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스탠드 토크 변동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→ 불량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역인과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RUN 필터: 0.0% 차이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p=0.259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역인과 확정: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불량→정지→토크 변동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빌렛 온도 +32.5℃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→ 불량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역인과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코일 단위: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p=0.877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역인과 확정: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일별 집계 허위 상관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가열 상부 온도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→ 불량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역인과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코일 단위: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p=0.174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역인과 확정: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시간 집계 오류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495E"/>
                </a:solidFill>
              </a:defRPr>
            </a:pPr>
          </a:p>
          <a:p>
            <a:pPr>
              <a:defRPr sz="1300" b="1">
                <a:solidFill>
                  <a:srgbClr val="2C7BE5"/>
                </a:solidFill>
              </a:defRPr>
            </a:pPr>
            <a:r>
              <a:t>핵심: RUN 필터(정상 가동 상태만 추출)가 진짜/거짓 신호를 구분하는 결정적 도구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Q1+Q2: 공정 흐름 — 가열로가 선행 지표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Stand 8 vs 가열로 압력: rho = -0.722 (p&lt;0.001)</a:t>
            </a:r>
          </a:p>
        </p:txBody>
      </p:sp>
      <p:pic>
        <p:nvPicPr>
          <p:cNvPr id="3" name="Picture 2" descr="chart2_ccf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99" y="1280160"/>
            <a:ext cx="4840120" cy="2743200"/>
          </a:xfrm>
          <a:prstGeom prst="rect">
            <a:avLst/>
          </a:prstGeom>
        </p:spPr>
      </p:pic>
      <p:pic>
        <p:nvPicPr>
          <p:cNvPr id="4" name="Picture 3" descr="chart3_stand8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206240"/>
            <a:ext cx="5669280" cy="19545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495E"/>
                </a:solidFill>
              </a:defRPr>
            </a:pPr>
          </a:p>
          <a:p>
            <a:pPr>
              <a:defRPr sz="1400" b="1">
                <a:solidFill>
                  <a:srgbClr val="E74C3C"/>
                </a:solidFill>
              </a:defRPr>
            </a:pPr>
            <a:r>
              <a:t>Stand 8 vs 가열로: rho=-0.722 (p&lt;0.001)</a:t>
            </a:r>
          </a:p>
          <a:p>
            <a:pPr lvl="1">
              <a:defRPr sz="1200" b="0">
                <a:solidFill>
                  <a:srgbClr val="34495E"/>
                </a:solidFill>
              </a:defRPr>
            </a:pPr>
            <a:r>
              <a:t>  가열로 압력 하락 → Stand 8 토크 상승 (부하 증가)</a:t>
            </a:r>
          </a:p>
          <a:p>
            <a:pPr>
              <a:defRPr sz="800" b="0">
                <a:solidFill>
                  <a:srgbClr val="34495E"/>
                </a:solidFill>
              </a:defRPr>
            </a:pPr>
          </a:p>
          <a:p>
            <a:pPr>
              <a:defRPr sz="1300" b="1">
                <a:solidFill>
                  <a:srgbClr val="34495E"/>
                </a:solidFill>
              </a:defRPr>
            </a:pPr>
            <a:r>
              <a:t>가열로 압력 vs 불량률: rho=-0.263 (p=0.003)</a:t>
            </a:r>
          </a:p>
          <a:p>
            <a:pPr>
              <a:defRPr sz="800" b="0">
                <a:solidFill>
                  <a:srgbClr val="34495E"/>
                </a:solidFill>
              </a:defRPr>
            </a:pPr>
          </a:p>
          <a:p>
            <a:pPr>
              <a:defRPr sz="1300" b="0">
                <a:solidFill>
                  <a:srgbClr val="34495E"/>
                </a:solidFill>
              </a:defRPr>
            </a:pPr>
            <a:r>
              <a:t>Cross-Correlation 10쌍: 전부 유의</a:t>
            </a:r>
          </a:p>
          <a:p>
            <a:pPr lvl="1">
              <a:defRPr sz="1200" b="0">
                <a:solidFill>
                  <a:srgbClr val="7F8C8D"/>
                </a:solidFill>
              </a:defRPr>
            </a:pPr>
            <a:r>
              <a:t>  단, lag=0 (일별 집계 해상도 한계)</a:t>
            </a:r>
          </a:p>
          <a:p>
            <a:pPr lvl="1">
              <a:defRPr sz="1200" b="0">
                <a:solidFill>
                  <a:srgbClr val="7F8C8D"/>
                </a:solidFill>
              </a:defRPr>
            </a:pPr>
            <a:r>
              <a:t>  물리적 lag 추정: 가열로→핀치롤 ~1-2분</a:t>
            </a:r>
          </a:p>
          <a:p>
            <a:pPr>
              <a:defRPr sz="800" b="0">
                <a:solidFill>
                  <a:srgbClr val="34495E"/>
                </a:solidFill>
              </a:defRPr>
            </a:pPr>
          </a:p>
          <a:p>
            <a:pPr>
              <a:defRPr sz="1400" b="1">
                <a:solidFill>
                  <a:srgbClr val="2C7BE5"/>
                </a:solidFill>
              </a:defRPr>
            </a:pPr>
            <a:r>
              <a:t>선조치 방향:</a:t>
            </a:r>
          </a:p>
          <a:p>
            <a:pPr lvl="1">
              <a:defRPr sz="1200" b="0">
                <a:solidFill>
                  <a:srgbClr val="34495E"/>
                </a:solidFill>
              </a:defRPr>
            </a:pPr>
            <a:r>
              <a:t>1순위: 가열로 압력 ≤0.48 경보 (전 강종)</a:t>
            </a:r>
          </a:p>
          <a:p>
            <a:pPr lvl="1">
              <a:defRPr sz="1200" b="0">
                <a:solidFill>
                  <a:srgbClr val="34495E"/>
                </a:solidFill>
              </a:defRPr>
            </a:pPr>
            <a:r>
              <a:t>2순위: MAIN_GAS_FLOW 관리 (D4: Gap -75%)</a:t>
            </a:r>
          </a:p>
          <a:p>
            <a:pPr lvl="1">
              <a:defRPr sz="1200" b="0">
                <a:solidFill>
                  <a:srgbClr val="34495E"/>
                </a:solidFill>
              </a:defRPr>
            </a:pPr>
            <a:r>
              <a:t>3순위: PR3 토크 &lt;10 경보 (D5-D10)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Q4: Stand 14 &amp; 블록밀 — 평균 vs 변동성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"평균(avg)은 비유의, 변동성(std)은 유의합니다"</a:t>
            </a:r>
          </a:p>
        </p:txBody>
      </p:sp>
      <p:pic>
        <p:nvPicPr>
          <p:cNvPr id="3" name="Picture 2" descr="chart2_avg_vs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669280" cy="2510914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371600"/>
          <a:ext cx="46634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48640"/>
                <a:gridCol w="731520"/>
                <a:gridCol w="548640"/>
                <a:gridCol w="914400"/>
                <a:gridCol w="73152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태그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avg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rho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avg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p값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std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rho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std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p값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판정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Stand14 토크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0.087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비유의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0.351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0.00005***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std만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FB Slave 토크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0.491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&lt;0.001***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ML 1위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FB Master 토크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0.322***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0.491***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둘 다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Stand14 속도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0.202*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0.023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0.363***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0.00003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std &gt; avg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4114800"/>
            <a:ext cx="5486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495E"/>
                </a:solidFill>
              </a:defRPr>
            </a:pPr>
          </a:p>
          <a:p>
            <a:pPr>
              <a:defRPr sz="1300" b="1">
                <a:solidFill>
                  <a:srgbClr val="E74C3C"/>
                </a:solidFill>
              </a:defRPr>
            </a:pPr>
            <a:r>
              <a:t>"작은 신호"는 평균(avg)만 보았기 때문</a:t>
            </a:r>
          </a:p>
          <a:p>
            <a:pPr>
              <a:defRPr sz="1300" b="1">
                <a:solidFill>
                  <a:srgbClr val="27AE60"/>
                </a:solidFill>
              </a:defRPr>
            </a:pPr>
            <a:r>
              <a:t>변동성(std) = 공정 불안정의 진짜 지표</a:t>
            </a:r>
          </a:p>
          <a:p>
            <a:pPr>
              <a:defRPr sz="1200" b="0">
                <a:solidFill>
                  <a:srgbClr val="34495E"/>
                </a:solidFill>
              </a:defRPr>
            </a:pPr>
            <a:r>
              <a:t>FB Slave 토크 std = ML 1위 + rho=0.491</a:t>
            </a:r>
          </a:p>
          <a:p>
            <a:pPr>
              <a:defRPr sz="1200" b="1">
                <a:solidFill>
                  <a:srgbClr val="E74C3C"/>
                </a:solidFill>
              </a:defRPr>
            </a:pPr>
            <a:r>
              <a:t>기존 "약한 신호" 판정 수정 필요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Q4: 불량 유형별 상관 — Stand 14 &amp; 블록밀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FB Slave 토크 std: 모든 불량 유형에서 유의</a:t>
            </a:r>
          </a:p>
        </p:txBody>
      </p:sp>
      <p:pic>
        <p:nvPicPr>
          <p:cNvPr id="3" name="Picture 2" descr="defect_type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577" y="1280160"/>
            <a:ext cx="9322365" cy="53949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Q3: 강종별 관리 기준 (잠정)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실측값 기반 (설정값 데이터 미확보)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9144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31520"/>
                <a:gridCol w="2011680"/>
                <a:gridCol w="914400"/>
                <a:gridCol w="914400"/>
                <a:gridCol w="2286000"/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태그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강종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정상 범위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(Q10~Q90)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불량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평균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위험 신호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MAIN_GAS_FLOW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701 ~ 2,680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-75.2%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가스 유량 급감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MAIN_GAS_FLOW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N5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1,191 ~ 2,932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1,326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-40.6%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가스 유량 감소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PR3 토크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D5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25 ~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89.8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+87.6%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과도하게 높음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PR3 토크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N5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35 ~ 100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72.3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+41.5%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높음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Stand 8 토크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2.7 ~ 45.5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20.3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-43.9%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토크 부족</a:t>
                      </a:r>
                    </a:p>
                  </a:txBody>
                  <a:tcPr/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빌렛 온도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D5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1,052 ~ 1,156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1,094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+5.0%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저온 불량 주의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495E"/>
                </a:solidFill>
              </a:defRPr>
            </a:pPr>
          </a:p>
          <a:p>
            <a:pPr>
              <a:defRPr sz="1300" b="1">
                <a:solidFill>
                  <a:srgbClr val="E74C3C"/>
                </a:solidFill>
              </a:defRPr>
            </a:pPr>
            <a:r>
              <a:t>설정값(SP) 데이터: MES/Level 2 제어시스템에서 추출 필요 → 확보 시 Gap 정량화 추가</a:t>
            </a:r>
          </a:p>
          <a:p>
            <a:pPr>
              <a:defRPr sz="1200" b="0">
                <a:solidFill>
                  <a:srgbClr val="7F8C8D"/>
                </a:solidFill>
              </a:defRPr>
            </a:pPr>
            <a:r>
              <a:t>현재: 대안 B — 정상 코일의 Q10~Q90을 잠정 관리 범위로 적용</a:t>
            </a:r>
          </a:p>
          <a:p>
            <a:pPr>
              <a:defRPr sz="1200" b="0">
                <a:solidFill>
                  <a:srgbClr val="7F8C8D"/>
                </a:solidFill>
              </a:defRPr>
            </a:pPr>
            <a:r>
              <a:t>계절 고려: 겨울(1~2월) 데이터만 분석 — 봄/여름 비교는 추가 데이터 필요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Q3: 강종별 정상 vs 불량 분포 비교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파란색=정상, 빨간색=불량, 초록 띠=Q10~Q90 범위</a:t>
            </a:r>
          </a:p>
        </p:txBody>
      </p:sp>
      <p:pic>
        <p:nvPicPr>
          <p:cNvPr id="3" name="Picture 2" descr="grade_distribu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887" y="1280160"/>
            <a:ext cx="6807744" cy="53949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조치 권고 — 설비 및 태그 우선순위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통합 순위 기반 Top-5 관리 대상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10332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2286000"/>
                <a:gridCol w="2286000"/>
                <a:gridCol w="320040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우선순위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설비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관리 태그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관리 기준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조치 방향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핀치롤 PR3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PR3 기준 토크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35~100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토크 &lt;10 시 즉시 경보 (D5-D10)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블록밀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FB Slave 토크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4~61 (D5)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변동성(std) 모니터링 강화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가열로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폐가스 압력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10.1~35.3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압력 ≤0.48 시 경보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가열로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가스 유량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701~2,680 (D4)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D4 강종: Gap -75% 주의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Stand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Stand 8 토크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0~40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가열로 영향 전파 모니터링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495E"/>
                </a:solidFill>
              </a:defRPr>
            </a:pPr>
          </a:p>
          <a:p>
            <a:pPr>
              <a:defRPr sz="1400" b="1">
                <a:solidFill>
                  <a:srgbClr val="2C7BE5"/>
                </a:solidFill>
              </a:defRPr>
            </a:pPr>
            <a:r>
              <a:t>현업 확인 필요 사항:</a:t>
            </a:r>
          </a:p>
          <a:p>
            <a:pPr lvl="1">
              <a:defRPr sz="1200" b="0">
                <a:solidFill>
                  <a:srgbClr val="34495E"/>
                </a:solidFill>
              </a:defRPr>
            </a:pPr>
            <a:r>
              <a:t>각 설비별 구체적 조정 방법 (증가/감소 방향, 조정량)</a:t>
            </a:r>
          </a:p>
          <a:p>
            <a:pPr lvl="1">
              <a:defRPr sz="1200" b="0">
                <a:solidFill>
                  <a:srgbClr val="34495E"/>
                </a:solidFill>
              </a:defRPr>
            </a:pPr>
            <a:r>
              <a:t>조정 담당자 및 프로토콜 확정</a:t>
            </a:r>
          </a:p>
          <a:p>
            <a:pPr lvl="1">
              <a:defRPr sz="1200" b="0">
                <a:solidFill>
                  <a:srgbClr val="34495E"/>
                </a:solidFill>
              </a:defRPr>
            </a:pPr>
            <a:r>
              <a:t>경보 시스템 연동 방법</a:t>
            </a:r>
          </a:p>
          <a:p>
            <a:pPr>
              <a:defRPr sz="800" b="0">
                <a:solidFill>
                  <a:srgbClr val="34495E"/>
                </a:solidFill>
              </a:defRPr>
            </a:pPr>
          </a:p>
          <a:p>
            <a:pPr>
              <a:defRPr sz="1300" b="1">
                <a:solidFill>
                  <a:srgbClr val="27AE60"/>
                </a:solidFill>
              </a:defRPr>
            </a:pPr>
            <a:r>
              <a:t>향후 데이터 수집 및 시스템 구성 시에도 위 분석 결과 반영 요청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제약사항 및 향후 계획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외부 데이터 또는 시간이 필요한 항목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685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286000"/>
                <a:gridCol w="914400"/>
                <a:gridCol w="914400"/>
                <a:gridCol w="228600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제약사항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심각도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담당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해결 방법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OPERATION_STATUS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CSV에 미존재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내부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전처리 스크립트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작성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가열로 설정값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데이터 미확보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높음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현업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MES/Level 2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CSV 추출 요청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315분석: 75일 누락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(2025.03~05)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현업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원본 데이터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추가 요청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B5 강종: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불량 2건만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높음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분석 제외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+ 3~6개월 축적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일별 집계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lag=0 한계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중간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내부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1분 간격 CCF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(#1 해결 후)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chart4_data_period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754880"/>
            <a:ext cx="5669280" cy="1585223"/>
          </a:xfrm>
          <a:prstGeom prst="rect">
            <a:avLst/>
          </a:prstGeom>
        </p:spPr>
      </p:pic>
      <p:pic>
        <p:nvPicPr>
          <p:cNvPr id="5" name="Picture 4" descr="chart5_grade_suffici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120" y="4754880"/>
            <a:ext cx="4342879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DC3C7"/>
                </a:solidFill>
              </a:defRPr>
            </a:pPr>
            <a:r>
              <a:t>DH Steel IBA 데이터 프로파일 — 공정-불량 상관분석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5A5A6"/>
                </a:solidFill>
              </a:defRPr>
            </a:pPr>
            <a:r>
              <a:t>2026.03.31  |  문의사항은 유선 연락 부탁드립니다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