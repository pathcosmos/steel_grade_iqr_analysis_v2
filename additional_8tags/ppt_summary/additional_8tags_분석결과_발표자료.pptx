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IBA 추가 태그 다기법 이상치 분석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BB"/>
                </a:solidFill>
                <a:latin typeface="맑은 고딕"/>
              </a:defRPr>
            </a:pPr>
            <a:r>
              <a:t>현업 요청 24개 태그 × 5개 분석 기법 종합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분석 기간: 2025.03 ~ 08  |  대상: B5, D4, D5, N5 (4강종, 10규격)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7777"/>
                </a:solidFill>
                <a:latin typeface="맑은 고딕"/>
              </a:defRPr>
            </a:pPr>
            <a:r>
              <a:t>DH Steel IBA Data Profile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분석 배경 및 범위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1600" b="1">
                <a:solidFill>
                  <a:srgbClr val="3498DB"/>
                </a:solidFill>
                <a:latin typeface="맑은 고딕"/>
              </a:rPr>
              <a:t>  목적:  </a:t>
            </a:r>
            <a:r>
              <a:rPr sz="1600">
                <a:solidFill>
                  <a:srgbClr val="333333"/>
                </a:solidFill>
                <a:latin typeface="맑은 고딕"/>
              </a:rPr>
              <a:t>현업 요청 24개 IBA 태그에 대한 다기법 이상치 분석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1600" b="1">
                <a:solidFill>
                  <a:srgbClr val="3498DB"/>
                </a:solidFill>
                <a:latin typeface="맑은 고딕"/>
              </a:rPr>
              <a:t>  기간:  </a:t>
            </a:r>
            <a:r>
              <a:rPr sz="1600">
                <a:solidFill>
                  <a:srgbClr val="333333"/>
                </a:solidFill>
                <a:latin typeface="맑은 고딕"/>
              </a:rPr>
              <a:t>2025년 3월 ~ 8월 (강종별 가용 데이터 기준)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1600" b="1">
                <a:solidFill>
                  <a:srgbClr val="3498DB"/>
                </a:solidFill>
                <a:latin typeface="맑은 고딕"/>
              </a:rPr>
              <a:t>  대상:  </a:t>
            </a:r>
            <a:r>
              <a:rPr sz="1600">
                <a:solidFill>
                  <a:srgbClr val="333333"/>
                </a:solidFill>
                <a:latin typeface="맑은 고딕"/>
              </a:rPr>
              <a:t>4개 강종 (B5, D4, D5, N5) × 10개 규격 (D10~D20)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1600" b="1">
                <a:solidFill>
                  <a:srgbClr val="3498DB"/>
                </a:solidFill>
                <a:latin typeface="맑은 고딕"/>
              </a:rPr>
              <a:t>  기법:  </a:t>
            </a:r>
            <a:r>
              <a:rPr sz="1600">
                <a:solidFill>
                  <a:srgbClr val="333333"/>
                </a:solidFill>
                <a:latin typeface="맑은 고딕"/>
              </a:rPr>
              <a:t>IQR, CUSUM-EWMA, Rolling Z-Score, STL Residual, Mahalanobis (5종)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1600" b="1">
                <a:solidFill>
                  <a:srgbClr val="3498DB"/>
                </a:solidFill>
                <a:latin typeface="맑은 고딕"/>
              </a:rPr>
              <a:t>  결과물:  </a:t>
            </a:r>
            <a:r>
              <a:rPr sz="1600">
                <a:solidFill>
                  <a:srgbClr val="333333"/>
                </a:solidFill>
                <a:latin typeface="맑은 고딕"/>
              </a:rPr>
              <a:t>12,350개 파일 (차트 12,297 + 리포트 27 + JSON 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핵심 판정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560320" cy="11887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1,386건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태그×기법 분석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097280"/>
            <a:ext cx="2560320" cy="11887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188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87개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문제 태그 (1기법+)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097280"/>
            <a:ext cx="2560320" cy="11887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188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47개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3기법 교차 문제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097280"/>
            <a:ext cx="2560320" cy="11887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188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3개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4기법 확정 문제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맑은 고딕"/>
              </a:defRPr>
            </a:pPr>
            <a:r>
              <a:t>4기법 교차 확인 확정 문제 태그 (IQR + CUSUM + Rolling-Z + STL 모두 이상)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2971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태그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카테고리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최대 이상치율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해당 강종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판정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PINCHROLL_4_ACTUAL_SPEED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핀치롤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100.0%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전 강종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확정 문제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PINCHROLL_3_ACTUAL_SPEED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핀치롤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100.0%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전 강종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확정 문제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PR6L2_ACT_TORQUE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PR 상세 토크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99.8%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전 강종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확정 문제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맑은 고딕"/>
              </a:defRPr>
            </a:pPr>
            <a:r>
              <a:t>강종별 종합 판정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484632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강종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판정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소견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위험도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B5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74C3C"/>
                          </a:solidFill>
                          <a:latin typeface="맑은 고딕"/>
                        </a:defRPr>
                      </a:pPr>
                      <a:r>
                        <a:t>위험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핀치롤·스탠드 속도 전반 이상, IQR 문제 65%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E74C3C"/>
                          </a:solidFill>
                          <a:latin typeface="맑은 고딕"/>
                        </a:defRPr>
                      </a:pPr>
                      <a:r>
                        <a:t>●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D4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67E22"/>
                          </a:solidFill>
                          <a:latin typeface="맑은 고딕"/>
                        </a:defRPr>
                      </a:pPr>
                      <a:r>
                        <a:t>경고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CUSUM 드리프트 최고(95%), PR6L1 토크 39.3%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E67E22"/>
                          </a:solidFill>
                          <a:latin typeface="맑은 고딕"/>
                        </a:defRPr>
                      </a:pPr>
                      <a:r>
                        <a:t>▲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D5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74C3C"/>
                          </a:solidFill>
                          <a:latin typeface="맑은 고딕"/>
                        </a:defRPr>
                      </a:pPr>
                      <a:r>
                        <a:t>위험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CUSUM 98%, STL 100%, PR 토크 critical 2개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E74C3C"/>
                          </a:solidFill>
                          <a:latin typeface="맑은 고딕"/>
                        </a:defRPr>
                      </a:pPr>
                      <a:r>
                        <a:t>●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N5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67E22"/>
                          </a:solidFill>
                          <a:latin typeface="맑은 고딕"/>
                        </a:defRPr>
                      </a:pPr>
                      <a:r>
                        <a:t>경고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사이즈별 편차 큼, critical 10개 최다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E67E22"/>
                          </a:solidFill>
                          <a:latin typeface="맑은 고딕"/>
                        </a:defRPr>
                      </a:pPr>
                      <a:r>
                        <a:t>▲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5가지 분석 기법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기법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목적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강점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문제 기준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민감도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IQR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통계적 이상치 탐지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직관적, 사이즈별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이상치율 ≥10%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중간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CUSUM-EWMA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공정 드리프트 탐지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미세 변화 누적 감지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위반율 ≥30%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높음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Rolling Z-Score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시간 변동 이상 탐지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국소 변동성 감지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이상치율 ≥3%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중간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STL Residual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추세/계절성 분리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순수 이상 탐지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잔차 이상치 ≥10%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높음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Mahalanobis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다변량 이상 탐지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태그 간 상관 고려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이상치율 ≥5%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낮음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맑은 고딕"/>
              </a:defRPr>
            </a:pPr>
            <a:r>
              <a:t>다기법 교차 확인 체계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029200"/>
            <a:ext cx="2651760" cy="9144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4기법 이상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94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확정 문제 — 모든 관점에서 이상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5029200"/>
            <a:ext cx="2651760" cy="9144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50749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3기법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5394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높은 문제 — 대다수 기법에서 이상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5029200"/>
            <a:ext cx="2651760" cy="91440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50749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2기법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394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주의 — 부분 기법에서 이상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5029200"/>
            <a:ext cx="2651760" cy="91440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50749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1기법만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5394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참고 — 단일 기법 민감도 가능성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기법 × 강종 평균 이상치율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thod_comparis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515600" cy="56689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다기법 교차 확인 Top 10 문제 태그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op10_problem_ta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972800" cy="54633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74C3C"/>
                </a:solidFill>
                <a:latin typeface="맑은 고딕"/>
              </a:defRPr>
            </a:pPr>
            <a:r>
              <a:t>핀치롤 (08) — 8개 태그, 최고 위험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254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태그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IQR 이상치율 (최고)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기법 수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PINCHROLL_4_ACTUAL_SPEED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B5/D16: 17.7%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4기법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확정 문제</a:t>
                      </a:r>
                    </a:p>
                  </a:txBody>
                  <a:tcPr anchor="ctr"/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PINCHROLL_3_ACTUAL_SPEED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N5/D16: 22.6%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4기법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확정 문제</a:t>
                      </a:r>
                    </a:p>
                  </a:txBody>
                  <a:tcPr anchor="ctr"/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PINCHROLL_2_ACTUAL_SPEED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B5/D16: 18.0%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3기법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전 강종</a:t>
                      </a:r>
                    </a:p>
                  </a:txBody>
                  <a:tcPr anchor="ctr"/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PINCHROLL_3_REFERENCE_TORQUE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B5/D13: 21.2%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3기법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전 강종</a:t>
                      </a:r>
                    </a:p>
                  </a:txBody>
                  <a:tcPr anchor="ctr"/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PINCHROLL_4_REFERENCE_TORQUE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B5/D13: 21.1%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3기법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전 강종</a:t>
                      </a:r>
                    </a:p>
                  </a:txBody>
                  <a:tcPr anchor="ctr"/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PINCHROLL_4_ACTUAL_TORQUE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D5/D10: 22.7%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3기법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전 강종</a:t>
                      </a:r>
                    </a:p>
                  </a:txBody>
                  <a:tcPr anchor="ctr"/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PINCHROLL_3_ACTUAL_TORQUE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B5/D13: 21.3%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3기법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전 강종</a:t>
                      </a:r>
                    </a:p>
                  </a:txBody>
                  <a:tcPr anchor="ctr"/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PINCHROLL_2_ACTUAL_TORQUE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D5/D10: 19.7%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3기법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전 강종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맑은 고딕"/>
              </a:defRPr>
            </a:pPr>
            <a:r>
              <a:t>소견: 핀치롤 2~4번 전체(속도+토크)가 전 강종에서 IQR 15~23%, CUSUM 65~100% 이상. 설비 자체 정비 필요.</a:t>
            </a:r>
          </a:p>
        </p:txBody>
      </p:sp>
      <p:pic>
        <p:nvPicPr>
          <p:cNvPr id="6" name="Picture 5" descr="IQR_PINCHROLL_4_ACTUAL_SPEED_D13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114800"/>
            <a:ext cx="5669280" cy="2366787"/>
          </a:xfrm>
          <a:prstGeom prst="rect">
            <a:avLst/>
          </a:prstGeom>
        </p:spPr>
      </p:pic>
      <p:pic>
        <p:nvPicPr>
          <p:cNvPr id="7" name="Picture 6" descr="CUSUM_PINCHROLL_4_ACTUAL_SPEED_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4114800"/>
            <a:ext cx="5669280" cy="45060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74C3C"/>
                </a:solidFill>
                <a:latin typeface="맑은 고딕"/>
              </a:defRPr>
            </a:pPr>
            <a:r>
              <a:t>PR 상세 토크 (09) — 6개 태그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28738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태그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IQR 이상치율 (최고)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기법 수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PR6L2_ACT_TORQUE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N5/D16: 32.3% (critical)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4기법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확정 문제</a:t>
                      </a:r>
                    </a:p>
                  </a:txBody>
                  <a:tcPr anchor="ctr"/>
                </a:tc>
              </a:tr>
              <a:tr h="287382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PR6L1_ACT_TORQUE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D4/D13: 39.3% (critical)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3기법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전체 최고 IQR</a:t>
                      </a:r>
                    </a:p>
                  </a:txBody>
                  <a:tcPr anchor="ctr"/>
                </a:tc>
              </a:tr>
              <a:tr h="287382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PR7L1_ACT_TORQUE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N5/D12: 19.2%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3기법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전 강종</a:t>
                      </a:r>
                    </a:p>
                  </a:txBody>
                  <a:tcPr anchor="ctr"/>
                </a:tc>
              </a:tr>
              <a:tr h="287382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PR7L2_ACT_TORQUE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N5/D16: 25.1% (critical)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3기법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전 강종</a:t>
                      </a:r>
                    </a:p>
                  </a:txBody>
                  <a:tcPr anchor="ctr"/>
                </a:tc>
              </a:tr>
              <a:tr h="287382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PR8L1_ACT_TORQUE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N5/D10: 13.7%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3기법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D4,D5,N5</a:t>
                      </a:r>
                    </a:p>
                  </a:txBody>
                  <a:tcPr anchor="ctr"/>
                </a:tc>
              </a:tr>
              <a:tr h="28738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PR9L1_ACT_TORQUE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3기법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D4,D5,N5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291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맑은 고딕"/>
              </a:defRPr>
            </a:pPr>
            <a:r>
              <a:t>소견: PR6L1_ACT_TORQUE가 D4/D13에서 IQR 39.3%로 전체 최고 이상치율.</a:t>
            </a:r>
            <a:br/>
            <a:r>
              <a:t>PR6~PR9 토크 전체가 문제이며, PR6 설비 양측(L1/L2) 이상 → 기계적 마모 또는 토크 제어 불안정 의심.</a:t>
            </a:r>
          </a:p>
        </p:txBody>
      </p:sp>
      <p:pic>
        <p:nvPicPr>
          <p:cNvPr id="6" name="Picture 5" descr="IQR_PR6L2_ACT_TORQUE_D10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114800"/>
            <a:ext cx="9144000" cy="38570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7E22"/>
                </a:solidFill>
                <a:latin typeface="맑은 고딕"/>
              </a:defRPr>
            </a:pPr>
            <a:r>
              <a:t>스탠드 속도 (06) — 15개 태그, 전체 3기법 문제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latin typeface="맑은 고딕"/>
              </a:defRPr>
            </a:pPr>
            <a:r>
              <a:t>STAND 1~14 + FINISHING BLOCK 전체 15개 스탠드 속도 태그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  • 전 강종에서 CUSUM + Rolling-Z + STL 3기법 문제 판정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  • CUSUM violation ratio: 73~96% (매우 높음)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  • STL 잔차 이상치율: 38~42%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  • Rolling Z-Score 이상치율: 3~6%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  • 단, IQR에서는 대부분 정상 범위 — 공정 조건 변경에 의한 정상 드리프트 가능성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  • → 실제 이상보다는 강종/사이즈에 따른 설정값 변경이 원인으로 추정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맑은 고딕"/>
              </a:defRPr>
            </a:pPr>
            <a:r>
              <a:t>판정: 🟡 모니터링 — IQR 정상이므로 실질적 이상보다 공정 변동에 의한 탐지 가능성</a:t>
            </a:r>
          </a:p>
        </p:txBody>
      </p:sp>
      <p:pic>
        <p:nvPicPr>
          <p:cNvPr id="6" name="Picture 5" descr="category_outlier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206240"/>
            <a:ext cx="9144000" cy="45413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7E22"/>
                </a:solidFill>
                <a:latin typeface="맑은 고딕"/>
              </a:defRPr>
            </a:pPr>
            <a:r>
              <a:t>스탠드 부하 (05) + 가열로 보조설비 (03)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맑은 고딕"/>
              </a:defRPr>
            </a:pPr>
            <a:r>
              <a:t>스탠드 부하 (STAND 1~7 LOAD) — 7개 태그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  • 3기법 문제: CUSUM + Mahalanobis + STL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  • CUSUM violation ratio: ~99% (전 강종)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  • Mahalanobis에서도 이상 → 부하 간 상관 비정상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  • 스탠드 간 부하 분배 불균형 가능성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  • 판정: 🟠 단기 점검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맑은 고딕"/>
              </a:defRPr>
            </a:pPr>
            <a:r>
              <a:t>가열로 보조설비 — 5개 태그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5544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  • MAIN_GAS_TEMPERATURE: CUSUM 100%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  • COMBUSTION_AIR_TEMPERATURE: CUSUM 100%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  • MAIN_GAS_FLOW: 97.8%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  • FURNACE_O2_ANALYZER: 96.6%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  • 가열로 연소 시스템 제어 불안정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  • 판정: 🟠 연소계 제어 검토 필요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맑은 고딕"/>
              </a:defRPr>
            </a:pPr>
            <a:r>
              <a:t>가열로 상부 온도 (01) — 4개 태그: CUSUM+Rolling-Z+STL, STL 잔차 18~21%. 판정: 🟡 모니터링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강종별 IQR 위험등급 분포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ade_risk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515600" cy="52099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기법별 × 강종별 문제 태그 비율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thod_coverag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515600" cy="521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강종별 × 상위 20 태그 IQR 이상치율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ross_grade_heatmap_i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972800" cy="73781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공통 문제 태그 vs 강종별 특이점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맑은 고딕"/>
              </a:defRPr>
            </a:pPr>
            <a:r>
              <a:t>전 강종 공통 문제 (설비 자체 이슈)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53035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카테고리</a:t>
                      </a:r>
                    </a:p>
                  </a:txBody>
                  <a:tcPr anchor="ctr"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태그 수</a:t>
                      </a:r>
                    </a:p>
                  </a:txBody>
                  <a:tcPr anchor="ctr"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대표</a:t>
                      </a:r>
                    </a:p>
                  </a:txBody>
                  <a:tcPr anchor="ctr">
                    <a:solidFill>
                      <a:srgbClr val="3498D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핀치롤 속도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PR2/3/4</a:t>
                      </a:r>
                    </a:p>
                  </a:txBody>
                  <a:tcPr anchor="ctr"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PR 토크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PR6/7 L1/L2</a:t>
                      </a:r>
                    </a:p>
                  </a:txBody>
                  <a:tcPr anchor="ctr"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스탠드 속도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15개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STAND 1~14</a:t>
                      </a:r>
                    </a:p>
                  </a:txBody>
                  <a:tcPr anchor="ctr"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스탠드 부하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7개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STAND 1~7</a:t>
                      </a:r>
                    </a:p>
                  </a:txBody>
                  <a:tcPr anchor="ctr"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가열로 보조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가스/연소공기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맑은 고딕"/>
              </a:defRPr>
            </a:pPr>
            <a:r>
              <a:t>강종별 특이 패턴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26480" y="1554480"/>
          <a:ext cx="53035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42062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강종</a:t>
                      </a:r>
                    </a:p>
                  </a:txBody>
                  <a:tcPr anchor="ctr"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특이점</a:t>
                      </a:r>
                    </a:p>
                  </a:txBody>
                  <a:tcPr anchor="ctr">
                    <a:solidFill>
                      <a:srgbClr val="E67E2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B5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IQR 위험 65%(최고), D16에서 핀치롤 심화</a:t>
                      </a:r>
                    </a:p>
                  </a:txBody>
                  <a:tcPr anchor="ctr"/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D4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PR6L1 토크 39.3%(전체 최고), CUSUM 95%</a:t>
                      </a:r>
                    </a:p>
                  </a:txBody>
                  <a:tcPr anchor="ctr"/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D5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CUSUM 98%+STL 100%, PR critical 2개</a:t>
                      </a:r>
                    </a:p>
                  </a:txBody>
                  <a:tcPr anchor="ctr"/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N5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사이즈 4개로 변동 큼, critical 10개 최다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맑은 고딕"/>
              </a:defRPr>
            </a:pPr>
            <a:r>
              <a:t>사이즈 영향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• B5: D16(큰 사이즈)에서 핀치롤 이상치율 D13 대비 +6.6%p 증가 — 큰 직경 소재에서 핀치롤 부담 가중</a:t>
            </a:r>
            <a:br/>
            <a:r>
              <a:t>• D4/D5: 사이즈 간 차이 미미 (±1%p)</a:t>
            </a:r>
            <a:br/>
            <a:r>
              <a:t>• N5: D12에서 핀치롤 10.1%, D20 PR 토크 특이 — 규격 간 패턴 불규칙</a:t>
            </a:r>
            <a:br/>
            <a:r>
              <a:t>→ B5/D16 공정 조건 최적화가 가장 시급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핵심 발견 5가지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1005840"/>
            <a:ext cx="457200" cy="4572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맑은 고딕"/>
              </a:defRPr>
            </a:pPr>
            <a:r>
              <a:t>핀치롤 2~4번 설비 전반 이상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25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맑은 고딕"/>
              </a:defRPr>
            </a:pPr>
            <a:r>
              <a:t>PR3/4 속도 4기법 교차, 속도+토크 8개 태그 전체 문제. 설비 기계적/제어적 문제 가능성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097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E74C3C"/>
                </a:solidFill>
                <a:latin typeface="맑은 고딕"/>
              </a:defRPr>
            </a:pPr>
            <a:r>
              <a:t>★★★★★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0574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맑은 고딕"/>
              </a:defRPr>
            </a:pPr>
            <a:r>
              <a:t>PR6 토크 — 전체 최고 위험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77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맑은 고딕"/>
              </a:defRPr>
            </a:pPr>
            <a:r>
              <a:t>PR6L2: 4기법, PR6L1: IQR 39.3%(전체 최고). L1/L2 양측 이상 → 토크 제어 또는 마모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E74C3C"/>
                </a:solidFill>
                <a:latin typeface="맑은 고딕"/>
              </a:defRPr>
            </a:pPr>
            <a:r>
              <a:t>★★★★★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54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108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7E22"/>
                </a:solidFill>
                <a:latin typeface="맑은 고딕"/>
              </a:defRPr>
            </a:pPr>
            <a:r>
              <a:t>문제의 64%가 밀 후반부 집중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429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맑은 고딕"/>
              </a:defRPr>
            </a:pPr>
            <a:r>
              <a:t>스탠드 속도(15)+핀치롤(8)+PR 토크(6) = 62%. 후반부 갈수록 이상 심화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E67E22"/>
                </a:solidFill>
                <a:latin typeface="맑은 고딕"/>
              </a:defRPr>
            </a:pPr>
            <a:r>
              <a:t>★★★★☆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4160520"/>
            <a:ext cx="457200" cy="457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160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7E22"/>
                </a:solidFill>
                <a:latin typeface="맑은 고딕"/>
              </a:defRPr>
            </a:pPr>
            <a:r>
              <a:t>CUSUM·STL 민감도 지나치게 높음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4805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맑은 고딕"/>
              </a:defRPr>
            </a:pPr>
            <a:r>
              <a:t>CUSUM 89~98%, STL 96~100% → 단독 사용 부적합. IQR+Rolling-Z가 실질적 판별에 유용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251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E67E22"/>
                </a:solidFill>
                <a:latin typeface="맑은 고딕"/>
              </a:defRPr>
            </a:pPr>
            <a:r>
              <a:t>★★★★☆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5212079"/>
            <a:ext cx="457200" cy="45720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25779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21207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C40F"/>
                </a:solidFill>
                <a:latin typeface="맑은 고딕"/>
              </a:defRPr>
            </a:pPr>
            <a:r>
              <a:t>B5 강종 설비 부담 가장 높음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53211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맑은 고딕"/>
              </a:defRPr>
            </a:pPr>
            <a:r>
              <a:t>IQR 65%(최고), D16에서 핀치롤 이상 +6.6%p. 소재 경도/직경이 설비에 높은 부담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530351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1C40F"/>
                </a:solidFill>
                <a:latin typeface="맑은 고딕"/>
              </a:defRPr>
            </a:pPr>
            <a:r>
              <a:t>★★★☆☆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조치 권고 (우선순위)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11612880" cy="1554480"/>
          </a:xfrm>
          <a:prstGeom prst="roundRect">
            <a:avLst/>
          </a:prstGeom>
          <a:solidFill>
            <a:srgbClr val="FDEDED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맑은 고딕"/>
              </a:defRPr>
            </a:pPr>
            <a:r>
              <a:t>🔴 우선순위 1 (즉시)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• 핀치롤 2~4번 설비 점검 — 베어링, 롤 마모, 제어 파라미터, 토크 센서 교정</a:t>
            </a:r>
            <a:br/>
            <a:r>
              <a:t>• PR6 토크 원인 조사 — L1/L2 양측 이상, 기계적 마모 또는 제어 불안정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834640"/>
            <a:ext cx="11612880" cy="1554480"/>
          </a:xfrm>
          <a:prstGeom prst="roundRect">
            <a:avLst/>
          </a:prstGeom>
          <a:solidFill>
            <a:srgbClr val="FEF5E7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맑은 고딕"/>
              </a:defRPr>
            </a:pPr>
            <a:r>
              <a:t>🟠 우선순위 2 (1개월 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• 스탠드 부하 밸런스 점검 — STAND 1~7 부하 분배 불균형 확인</a:t>
            </a:r>
            <a:br/>
            <a:r>
              <a:t>• 가열로 연소계 제어 검토 — 가스온도/연소공기 불안정 원인 파악</a:t>
            </a:r>
            <a:br/>
            <a:r>
              <a:t>• B5/D16 공정 조건 최적화 — 큰 사이즈에서 핀치롤 이상 심화 대응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572000"/>
            <a:ext cx="11612880" cy="1371600"/>
          </a:xfrm>
          <a:prstGeom prst="roundRect">
            <a:avLst/>
          </a:prstGeom>
          <a:solidFill>
            <a:srgbClr val="FEFCE7"/>
          </a:solidFill>
          <a:ln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A000"/>
                </a:solidFill>
                <a:latin typeface="맑은 고딕"/>
              </a:defRPr>
            </a:pPr>
            <a:r>
              <a:t>🟡 우선순위 3 (모니터링)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• 스탠드 속도 주기적 추세 확인 — IQR 정상이나 CUSUM 높음</a:t>
            </a:r>
            <a:br/>
            <a:r>
              <a:t>• 가열로 온도 계절 변동 모니터링 / N5 사이즈별 차이 추적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기법별 신뢰도 평가 및 권장 조합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기법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신뢰도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평가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IQR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★★★★★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가장 실용적. 사이즈별 분석 가능, 정상/이상 구분 명확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CUSUM-EWMA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★★★☆☆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민감도 과도 (89~98%). 단독 사용 부적합, 교차 확인용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Rolling Z-Score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★★★★☆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IQR과 상호보완적. 시간적 급변 탐지에 효과적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STL Residual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★★★☆☆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민감도 높음 (96~100%). 계절성 약한 데이터에서 과탐지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Mahalanobis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★★★★☆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다변량 상관 분석 유일 기법. 카테고리 단위 판별력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맑은 고딕"/>
              </a:defRPr>
            </a:pPr>
            <a:r>
              <a:t>권장 분석 조합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3474720" cy="10972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1차 판별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IQR (이상치율 ≥10%)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4114800"/>
            <a:ext cx="3474720" cy="10972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4160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2차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4526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Rolling Z (≥3%) + CUSUM (≥50%)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4114800"/>
            <a:ext cx="3474720" cy="109728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4160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보조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4526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STL (추세 분리), Mahalanobis (다변량)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후속 분석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제안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목적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우선도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핀치롤 진동 데이터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기계적 마모 원인 규명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74C3C"/>
                          </a:solidFill>
                          <a:latin typeface="맑은 고딕"/>
                        </a:defRPr>
                      </a:pPr>
                      <a:r>
                        <a:t>높음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PR6 토크 이력 vs 정비 이력 대조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정비 후 개선 여부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74C3C"/>
                          </a:solidFill>
                          <a:latin typeface="맑은 고딕"/>
                        </a:defRPr>
                      </a:pPr>
                      <a:r>
                        <a:t>높음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스탠드 부하 간 상관 변화 추적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부하 분배 이상 원인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67E22"/>
                          </a:solidFill>
                          <a:latin typeface="맑은 고딕"/>
                        </a:defRPr>
                      </a:pPr>
                      <a:r>
                        <a:t>중간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B5/D16 vs D13 공정 파라미터 비교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사이즈별 설정 최적화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67E22"/>
                          </a:solidFill>
                          <a:latin typeface="맑은 고딕"/>
                        </a:defRPr>
                      </a:pPr>
                      <a:r>
                        <a:t>중간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시간축 확대 분석 (1년)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계절 영향 및 장기 추세 파악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55555"/>
                          </a:solidFill>
                          <a:latin typeface="맑은 고딕"/>
                        </a:defRPr>
                      </a:pPr>
                      <a:r>
                        <a:t>낮음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840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맑은 고딕"/>
              </a:defRPr>
            </a:pPr>
            <a:r>
              <a:t>※ 본 분석은 2025.03~08 기간 데이터 기반이며, 실제 조치 시 현장 확인과 설비 이력 대조가 필요합니다.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BBBB"/>
                </a:solidFill>
                <a:latin typeface="맑은 고딕"/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  <a:latin typeface="맑은 고딕"/>
              </a:defRPr>
            </a:pPr>
            <a:r>
              <a:t>상세 데이터: ppt_summary/appendix/  |  전체 차트: ppt_summary/charts/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