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DH Steel 평택공장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2026년 1~2월 코일 단위 공정-불량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맑은 고딕"/>
              </a:defRPr>
            </a:pPr>
            <a:r>
              <a:t>이전 분석 결론 수정 + 진짜 원인 3가지 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2026-03-22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1. 핵심 발견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로압 저하</a:t>
            </a:r>
          </a:p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전 강종 p&lt;0.001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188720"/>
            <a:ext cx="347472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PR3&lt;10 OR=15.7</a:t>
            </a:r>
          </a:p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D5-D10 한정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188720"/>
            <a:ext cx="347472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TRANS 5.5배</a:t>
            </a:r>
          </a:p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불량 50% 비-RUN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65176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47472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이전 결론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코일 단위 결론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변경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주요 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역인과 (취소)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❌ 취소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빌렛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보조 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역인과 (취소)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❌ 취소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정지 후 재가동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확정 유지 (TRANS)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✅ 유지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2. 왜 결론이 바뀌었는가?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301752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일별 분석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코일 단위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r=0.62 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p=0.259 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역인과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빌렛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p=0.026 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p=0.877 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역인과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PR3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보조 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p=0.000011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확정 승격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가열로 압력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일부 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p=0.000021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확정 승격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핵심: 일별 집계는 Simpson's Paradox + 역인과에 취약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• 일별 집계: 불량 코일이 많은 날 → 라인 정지 → 토크/온도 변동 → 허위 상관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• 코일 단위: 개별 코일의 센서값과 불량 여부를 직접 비교 → 진짜 원인만 유의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• 비가동(TRANS/IDLE) 코일 제외 시 허위 신호 완전 소멸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3. 불량의 50%가 비가동 상태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가동 상태별 코일 분포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정상 코일: 85%가 RUN 상태</a:t>
            </a:r>
          </a:p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• 불량 코일: 50%만 RUN 상태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해석: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• 불량의 절반이 TRANS/IDLE에서 발생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• 비가동 시 센서값 비정상 → 허위 상관 생성</a:t>
            </a:r>
          </a:p>
          <a:p>
            <a:pPr algn="l">
              <a:defRPr sz="1200" b="1">
                <a:solidFill>
                  <a:srgbClr val="000000"/>
                </a:solidFill>
                <a:latin typeface="맑은 고딕"/>
              </a:defRPr>
            </a:pPr>
            <a:r>
              <a:t>• RUN 필터 적용이 인과 분석의 전제조건</a:t>
            </a:r>
          </a:p>
        </p:txBody>
      </p:sp>
      <p:pic>
        <p:nvPicPr>
          <p:cNvPr id="5" name="Picture 4" descr="F1_operation_status_defec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39313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필터 적용 시 허위 신호 소멸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371600"/>
                <a:gridCol w="128016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All p-value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RUN-only p-value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PR3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✅ 진짜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가열로 압력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0.000021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✅ 진짜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❌ 허위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STAND_12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❌ 허위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FB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❌ 허위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2_run_filter_pval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3372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4. 확정 원인 ①: 가열로 압력 저하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전 강종에서 유의한 유일한 태그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• D4: p = 0.004</a:t>
            </a:r>
          </a:p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• D5: p = 0.014</a:t>
            </a:r>
          </a:p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• N5: p = 0.014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Confounding 비율: 14%만 해당</a:t>
            </a:r>
          </a:p>
          <a:p>
            <a:pPr algn="l">
              <a:defRPr sz="1300" b="1">
                <a:solidFill>
                  <a:srgbClr val="2ECC71"/>
                </a:solidFill>
                <a:latin typeface="맑은 고딕"/>
              </a:defRPr>
            </a:pPr>
            <a:r>
              <a:t>→ 86%는 독립적으로 불량에 기여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400" b="1">
                <a:solidFill>
                  <a:srgbClr val="3498DB"/>
                </a:solidFill>
                <a:latin typeface="맑은 고딕"/>
              </a:defRPr>
            </a:pPr>
            <a:r>
              <a:t>권고: 로압 ≤ 0.48 시 경보 설정</a:t>
            </a:r>
          </a:p>
        </p:txBody>
      </p:sp>
      <p:pic>
        <p:nvPicPr>
          <p:cNvPr id="5" name="Picture 4" descr="F4_furnace_pressure_boxplot_by_grad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33780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확정 원인 ②: PR3 토크 부족 (D5-D10)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3_pr3_torque_boxplot_by_grad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2855583"/>
          </a:xfrm>
          <a:prstGeom prst="rect">
            <a:avLst/>
          </a:prstGeom>
        </p:spPr>
      </p:pic>
      <p:pic>
        <p:nvPicPr>
          <p:cNvPr id="5" name="Picture 4" descr="F7_d5d10_pr3_odds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097280"/>
            <a:ext cx="5029200" cy="22785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PR3 &lt; 10 시 불량 15.7배 증가  |  D5-D10 한정, 타 규격에서는 비유의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확정 원인 ③: TRANS/IDLE 비가동 전환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E74C3C"/>
                </a:solidFill>
                <a:latin typeface="맑은 고딕"/>
              </a:defRPr>
            </a:pPr>
            <a:r>
              <a:t>5.5배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  <a:latin typeface="맑은 고딕"/>
              </a:defRPr>
            </a:pPr>
            <a:r>
              <a:t>RUN 상태 불량률 0.77%  vs  TRANS/IDLE 불량률 4.3%</a:t>
            </a:r>
          </a:p>
          <a:p>
            <a:pPr algn="ctr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ctr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• 불량 코일의 50%가 비-RUN 상태에서 매칭됨</a:t>
            </a:r>
          </a:p>
          <a:p>
            <a:pPr algn="ctr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• TRANS → RUN 전환 시 품질 검사 프로토콜 필요</a:t>
            </a:r>
          </a:p>
          <a:p>
            <a:pPr algn="ctr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• 비가동 → 가동 전환 구간이 최대 취약 구간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5. 강종별로 다른 불량 원인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강종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원인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특이사항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로압 + 빌렛 온도 + S9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가열 공정 집중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PR3 토크 + 로압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D10 사이즈 한정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N5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로압 + PR3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전반적 공정 이상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8_grade_signific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31013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전체 분석의 함정: Simpson's Paradox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PR3 토크 사례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전체: 불량 시 PR3 -52% 낮음</a:t>
            </a:r>
          </a:p>
          <a:p>
            <a:pPr algn="l">
              <a:defRPr sz="1300" b="1">
                <a:solidFill>
                  <a:srgbClr val="2ECC71"/>
                </a:solidFill>
                <a:latin typeface="맑은 고딕"/>
              </a:defRPr>
            </a:pPr>
            <a:r>
              <a:t>• D5-D10만: -51.6% (진짜 효과)</a:t>
            </a:r>
          </a:p>
          <a:p>
            <a:pPr algn="l">
              <a:defRPr sz="1300" b="0">
                <a:solidFill>
                  <a:srgbClr val="E74C3C"/>
                </a:solidFill>
                <a:latin typeface="맑은 고딕"/>
              </a:defRPr>
            </a:pPr>
            <a:r>
              <a:t>• 나머지 규격: 차이 비유의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1">
                <a:solidFill>
                  <a:srgbClr val="E67E22"/>
                </a:solidFill>
                <a:latin typeface="맑은 고딕"/>
              </a:defRPr>
            </a:pPr>
            <a:r>
              <a:t>Confounding 비율: 42%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→ 강종/사이즈가 교란변수로 작용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1">
                <a:solidFill>
                  <a:srgbClr val="E74C3C"/>
                </a:solidFill>
                <a:latin typeface="맑은 고딕"/>
              </a:defRPr>
            </a:pPr>
            <a:r>
              <a:t>교훈: 전체 데이터 분석은 위험</a:t>
            </a:r>
          </a:p>
          <a:p>
            <a:pPr algn="l">
              <a:defRPr sz="1200" b="0">
                <a:solidFill>
                  <a:srgbClr val="000000"/>
                </a:solidFill>
                <a:latin typeface="맑은 고딕"/>
              </a:defRPr>
            </a:pPr>
            <a:r>
              <a:t>→ 반드시 강종별 하위그룹 분석 필요</a:t>
            </a:r>
          </a:p>
        </p:txBody>
      </p:sp>
      <p:pic>
        <p:nvPicPr>
          <p:cNvPr id="5" name="Picture 4" descr="F5_simpsons_paradox_p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943600" cy="39457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6. 불량 유형별 발생 메커니즘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6_defect_type_sensor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3407" cy="43891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3891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3200400"/>
                <a:gridCol w="4572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불량 유형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상태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토션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RUN + TRANS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가동 중 + 전환 시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누워감김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전환 시에만 발생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권취불량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TRANS/RUN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권취 공정 집중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딱지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가동 중 발생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돼지꼬리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가동 중 발생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7. 수정된 권고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이전 권고 취소 (역인과 확인)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취소 항목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이전 권고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취소 사유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토크 편차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p=0.259, 역인과 확인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빌렛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온도 관리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p=0.877, 역인과 확인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맑은 고딕"/>
              </a:defRPr>
            </a:pPr>
            <a:r>
              <a:t>신규/수정 권고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83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1828800"/>
                <a:gridCol w="301752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권고 사항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근거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우선순위</a:t>
                      </a:r>
                    </a:p>
                  </a:txBody>
                  <a:tcPr>
                    <a:solidFill>
                      <a:srgbClr val="2ECC7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로압 ≤ 0.48 경보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p&lt;0.001 전 강종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즉시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PR3 &lt; 10 경보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OR=15.7, p&lt;0.001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D5-D10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즉시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TRANS→RUN 검사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5.5배 불량률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2주 내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강종별 기준 의무화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Simpson Paradox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1개월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딱지: 온도 프로파일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RUN 중 발생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1개월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실행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1828800"/>
                <a:gridCol w="521208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즉시 (1주)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로압 경보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설비팀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로압 ≤ 0.48 실시간 경보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즉시 (1주)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PR3 토크 경보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설비팀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PR3 &lt; 10 시 D5-D10 경보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2주</a:t>
                      </a:r>
                    </a:p>
                  </a:txBody>
                  <a:tcPr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 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품질팀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TRANS→RUN 전환 시 검사 절차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1개월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이전 권고 취소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관리팀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STAND_9, 빌렛 온도 권고 철회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1개월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강종별 가이드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기술팀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강종/사이즈별 관리 기준 수립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3개월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데이터 축적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데이터팀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3개월 코일 데이터 수집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3개월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대시보드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데이터팀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실시간 코일 품질 모니터링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8. 최종 인과 판정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5943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1188720"/>
                <a:gridCol w="914400"/>
                <a:gridCol w="15544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일별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코일 단위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RUN 필터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최종 판정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가열로 압력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일부 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✅ 확정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PR3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p&lt;0.001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유지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✅ 확정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TRANS/IDLE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정지 유의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5.5배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✅ 확정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r=0.62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p=0.259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❌ 역인과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빌렛 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p=0.026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p=0.877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소멸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❌ 역인과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9_causal_verdic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486400" cy="2726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한계점 및 후속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47120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한계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소표본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전체 66건 불량 코일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통계 검정력 제한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규격별 표본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규격당 8~21건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하위그룹 분석 제약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Confounding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PR3의 42% 교란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인과 추론 불확실성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후속 과제</a:t>
            </a:r>
          </a:p>
          <a:p>
            <a:pPr algn="l">
              <a:defRPr sz="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3~6개월 데이터 축적 후 재검증 (목표: 200건 이상)</a:t>
            </a: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로지스틱 회귀 적용으로 다변량 교란 통제</a:t>
            </a: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코일 단위 실시간 모니터링 대시보드 구축</a:t>
            </a:r>
          </a:p>
          <a:p>
            <a:pPr algn="l">
              <a:defRPr sz="1300" b="0">
                <a:solidFill>
                  <a:srgbClr val="000000"/>
                </a:solidFill>
                <a:latin typeface="맑은 고딕"/>
              </a:defRPr>
            </a:pPr>
            <a:r>
              <a:t>• TRANS → RUN 전환 프로토콜 효과 측정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맑은 고딕"/>
              </a:defRPr>
            </a:pPr>
            <a:r>
              <a:t>코일 단위 분석으로 진짜 원인을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참조: analysis_output/2026_01_02_defect_factor_analysis/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