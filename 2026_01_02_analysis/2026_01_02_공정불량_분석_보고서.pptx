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828800"/>
            <a:ext cx="121916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맑은 고딕"/>
              </a:defRPr>
            </a:pPr>
            <a:r>
              <a:t>DH Steel 평택공장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7432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2026년 1~2월 공정-불량 영향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99999"/>
                </a:solidFill>
                <a:latin typeface="맑은 고딕"/>
              </a:defRPr>
            </a:pPr>
            <a:r>
              <a:t>보고일: 2026-03-22  |  분석 기간: 2026-01-01 ~ 02-28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1. 핵심 발견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200400" cy="109728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맑은 고딕"/>
              </a:defRPr>
            </a:pPr>
            <a:r>
              <a:t>토크 변동</a:t>
            </a:r>
          </a:p>
          <a:p>
            <a:pPr algn="ctr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r = 0.62</a:t>
            </a:r>
          </a:p>
          <a:p>
            <a:pPr algn="ctr">
              <a:defRPr sz="900">
                <a:solidFill>
                  <a:srgbClr val="FFFFFF"/>
                </a:solidFill>
                <a:latin typeface="맑은 고딕"/>
              </a:defRPr>
            </a:pPr>
            <a:r>
              <a:t>STAND_9 토크 표준편차 vs 불량률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188720"/>
            <a:ext cx="3200400" cy="109728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맑은 고딕"/>
              </a:defRPr>
            </a:pPr>
            <a:r>
              <a:t>추출온도 편차</a:t>
            </a:r>
          </a:p>
          <a:p>
            <a:pPr algn="ctr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+32.5°C</a:t>
            </a:r>
          </a:p>
          <a:p>
            <a:pPr algn="ctr">
              <a:defRPr sz="900">
                <a:solidFill>
                  <a:srgbClr val="FFFFFF"/>
                </a:solidFill>
                <a:latin typeface="맑은 고딕"/>
              </a:defRPr>
            </a:pPr>
            <a:r>
              <a:t>불량일 추출온도 표준편차 상승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188720"/>
            <a:ext cx="3200400" cy="1097280"/>
          </a:xfrm>
          <a:prstGeom prst="round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  <a:latin typeface="맑은 고딕"/>
              </a:defRPr>
            </a:pPr>
            <a:r>
              <a:t>설비정지 후 불량</a:t>
            </a:r>
          </a:p>
          <a:p>
            <a:pPr algn="ctr">
              <a:defRPr sz="2400" b="1">
                <a:solidFill>
                  <a:srgbClr val="FFFFFF"/>
                </a:solidFill>
                <a:latin typeface="맑은 고딕"/>
              </a:defRPr>
            </a:pPr>
            <a:r>
              <a:t>OR = 3.0</a:t>
            </a:r>
          </a:p>
          <a:p>
            <a:pPr algn="ctr">
              <a:defRPr sz="900">
                <a:solidFill>
                  <a:srgbClr val="FFFFFF"/>
                </a:solidFill>
                <a:latin typeface="맑은 고딕"/>
              </a:defRPr>
            </a:pPr>
            <a:r>
              <a:t>정지 후 불량 발생 Odds Ratio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맑은 고딕"/>
              </a:defRPr>
            </a:pPr>
            <a:r>
              <a:t>즉시 조치 사항</a:t>
            </a:r>
          </a:p>
          <a:p>
            <a:pPr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STAND_9 토크 변동 실시간 모니터링 체계 구축 (r=0.62, 최고 상관)</a:t>
            </a:r>
          </a:p>
          <a:p>
            <a:pPr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추출온도 편차 관리 기준 강화 (불량일 +32.5°C 상승 확인)</a:t>
            </a:r>
          </a:p>
          <a:p>
            <a:pPr>
              <a:defRPr sz="1200" b="0">
                <a:solidFill>
                  <a:srgbClr val="333333"/>
                </a:solidFill>
                <a:latin typeface="맑은 고딕"/>
              </a:defRPr>
            </a:pPr>
            <a:r>
              <a:t>설비 정지 후 재가동 시 품질 점검 프로토콜 도입 (OR=3.0)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2. 데이터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5029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300"/>
                <a:gridCol w="1257300"/>
                <a:gridCol w="1257300"/>
                <a:gridCol w="12573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데이터 소스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건수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기간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IBA 센서 데이터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84,919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2026.01~02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84개 태그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생산 실적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4,952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2026.01~02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D5/N5/D4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불량 이력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2026.01~02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토션 65%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설비 정지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318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2026.01~02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14개 유형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A4_defect_heatmap_grade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486400" cy="39264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3. 시간대별 / 요일별 불량 분포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1_defect_by_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3757287"/>
          </a:xfrm>
          <a:prstGeom prst="rect">
            <a:avLst/>
          </a:prstGeom>
        </p:spPr>
      </p:pic>
      <p:pic>
        <p:nvPicPr>
          <p:cNvPr id="5" name="Picture 4" descr="A2_defect_by_dayofwee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669280" cy="376150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4. 근무조별 불량 / 불량 유형 분포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3_defect_by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3759393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097280"/>
          <a:ext cx="5303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불량 유형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비율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특징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토션(Torsion)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STAND_9 토크 변동과 강한 상관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누워감김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추출온도 편차 관련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미달/과잉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속도 설정 변동 관련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표면결함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가열로 온도 불균일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기타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복합 원인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5. 분석 방법론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기법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목적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적용 대상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핵심 지표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Pearson/Spearman 상관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태그-불량률 선형/비선형 관계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84개 IBA 태그 × 불량률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r, rho, p-value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Granger 인과검정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시간적 선후 인과관계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상위 상관 태그 → 불량률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F-stat, p-value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Mann-Whitney U 검정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불량일 vs 정상일 분포 차이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일별 태그 통계량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U-stat, p-value, Cohen d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RF / XGBoost 중요도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비선형 중요 변수 발굴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일별 84개 태그 통계량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Feature Importance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SHAP 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개별 예측 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XGBoost 모델 출력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SHAP value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572000"/>
            <a:ext cx="11247120" cy="731520"/>
          </a:xfrm>
          <a:prstGeom prst="roundRect">
            <a:avLst/>
          </a:prstGeom>
          <a:solidFill>
            <a:srgbClr val="FFF3CD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D"/>
                </a:solidFill>
                <a:latin typeface="맑은 고딕"/>
              </a:defRPr>
            </a:pPr>
            <a:r>
              <a:t>⚠️ 일별 집계 한계: 역방향 인과(불량 발생 → 공정 조정) 가능성 존재. 코일 단위 분석으로 검증 필요.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6. Top 10 상관 태그 랭킹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핵심 발견</a:t>
            </a:r>
          </a:p>
          <a:p>
            <a:pPr>
              <a:defRPr sz="1100" b="1">
                <a:solidFill>
                  <a:srgbClr val="333333"/>
                </a:solidFill>
                <a:latin typeface="맑은 고딕"/>
              </a:defRPr>
            </a:pPr>
            <a:r>
              <a:t>변동성(std) 지표 &gt; 평균(mean) 지표</a:t>
            </a:r>
          </a:p>
          <a:p>
            <a:pPr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Top 1: STAND_9_TORQUE_std (r=0.62)</a:t>
            </a:r>
          </a:p>
          <a:p>
            <a:pPr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Top 2: STAND_8_TORQUE_std (r=0.61)</a:t>
            </a:r>
          </a:p>
          <a:p>
            <a:pPr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Top 3: EXTRACT_TEMP_std (r=0.60)</a:t>
            </a:r>
          </a:p>
          <a:p>
            <a:pPr>
              <a:defRPr sz="8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공통 패턴: 후단 스탠드(8~9) 토크의</a:t>
            </a:r>
          </a:p>
          <a:p>
            <a:pPr lvl="1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일간 변동성이 클수록 불량률 상승</a:t>
            </a:r>
          </a:p>
          <a:p>
            <a:pPr>
              <a:defRPr sz="8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100" b="1">
                <a:solidFill>
                  <a:srgbClr val="333333"/>
                </a:solidFill>
                <a:latin typeface="맑은 고딕"/>
              </a:defRPr>
            </a:pPr>
            <a:r>
              <a:t>시사점: 안정적 압연 조건 유지가</a:t>
            </a:r>
          </a:p>
          <a:p>
            <a:pPr lvl="1">
              <a:defRPr sz="1100" b="1">
                <a:solidFill>
                  <a:srgbClr val="333333"/>
                </a:solidFill>
                <a:latin typeface="맑은 고딕"/>
              </a:defRPr>
            </a:pPr>
            <a:r>
              <a:t>불량 저감의 핵심 전략</a:t>
            </a:r>
          </a:p>
        </p:txBody>
      </p:sp>
      <p:pic>
        <p:nvPicPr>
          <p:cNvPr id="5" name="Picture 4" descr="B1_top10_correlation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05840"/>
            <a:ext cx="5943600" cy="39468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7. STAND_9 토크 변동 vs 불량률 추이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2_stand9_torque_std_vs_defect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05840"/>
            <a:ext cx="8993229" cy="5577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943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해석: STAND_9 토크 표준편차가 급등하는 시점에 불량률도 동반 상승하는 패턴이 뚜렷함 (r=0.62, p&lt;0.001)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8. Granger 인과 검정 결과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인과 관계 발견</a:t>
            </a:r>
          </a:p>
          <a:p>
            <a:pPr>
              <a:defRPr sz="1100" b="1">
                <a:solidFill>
                  <a:srgbClr val="333333"/>
                </a:solidFill>
                <a:latin typeface="맑은 고딕"/>
              </a:defRPr>
            </a:pPr>
            <a:r>
              <a:t>가열 상부 온도 → 불량률 (p=0.002, 최강)</a:t>
            </a:r>
          </a:p>
          <a:p>
            <a:pPr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STAND_9 토크 변동 → 불량률 (p=0.008)</a:t>
            </a:r>
          </a:p>
          <a:p>
            <a:pPr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추출온도 편차 → 불량률 (p=0.015)</a:t>
            </a:r>
          </a:p>
          <a:p>
            <a:pPr>
              <a:defRPr sz="8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의미: 가열로 온도 관리가 불량 예방의</a:t>
            </a:r>
          </a:p>
          <a:p>
            <a:pPr lvl="1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선행 지표로 활용 가능</a:t>
            </a:r>
          </a:p>
          <a:p>
            <a:pPr>
              <a:defRPr sz="8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100" b="0">
                <a:solidFill>
                  <a:srgbClr val="E67E22"/>
                </a:solidFill>
                <a:latin typeface="맑은 고딕"/>
              </a:defRPr>
            </a:pPr>
            <a:r>
              <a:t>주의: 1~2일 시차(lag)에서 유의미.</a:t>
            </a:r>
          </a:p>
          <a:p>
            <a:pPr lvl="1">
              <a:defRPr sz="1100" b="0">
                <a:solidFill>
                  <a:srgbClr val="E67E22"/>
                </a:solidFill>
                <a:latin typeface="맑은 고딕"/>
              </a:defRPr>
            </a:pPr>
            <a:r>
              <a:t>즉각적 인과가 아닌 누적 효과 해석 필요</a:t>
            </a:r>
          </a:p>
        </p:txBody>
      </p:sp>
      <p:pic>
        <p:nvPicPr>
          <p:cNvPr id="5" name="Picture 4" descr="B3_granger_causality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05840"/>
            <a:ext cx="5943600" cy="392797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9. 불량일 vs 정상일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1_defect_vs_normal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3759393"/>
          </a:xfrm>
          <a:prstGeom prst="rect">
            <a:avLst/>
          </a:prstGeom>
        </p:spPr>
      </p:pic>
      <p:pic>
        <p:nvPicPr>
          <p:cNvPr id="5" name="Picture 4" descr="C2_tornado_defect_vs_norm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669280" cy="37572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10. 머신러닝 특성 중요도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ML 분석 결과</a:t>
            </a:r>
          </a:p>
          <a:p>
            <a:pPr>
              <a:defRPr sz="1100" b="1">
                <a:solidFill>
                  <a:srgbClr val="333333"/>
                </a:solidFill>
                <a:latin typeface="맑은 고딕"/>
              </a:defRPr>
            </a:pPr>
            <a:r>
              <a:t>4/4 만장일치 태그 (모든 기법 공통):</a:t>
            </a:r>
          </a:p>
          <a:p>
            <a:pPr lvl="1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STAND_9_TORQUE_std</a:t>
            </a:r>
          </a:p>
          <a:p>
            <a:pPr lvl="1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STAND_8_TORQUE_std</a:t>
            </a:r>
          </a:p>
          <a:p>
            <a:pPr lvl="1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EXTRACT_TEMP_std</a:t>
            </a:r>
          </a:p>
          <a:p>
            <a:pPr lvl="1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FURNACE_UPPER_TEMP_mean</a:t>
            </a:r>
          </a:p>
          <a:p>
            <a:pPr>
              <a:defRPr sz="8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100" b="1">
                <a:solidFill>
                  <a:srgbClr val="3498DB"/>
                </a:solidFill>
                <a:latin typeface="맑은 고딕"/>
              </a:defRPr>
            </a:pPr>
            <a:r>
              <a:t>신규 발견 (ML Only):</a:t>
            </a:r>
          </a:p>
          <a:p>
            <a:pPr lvl="1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속도 변동(SPEED_std) - 통계 분석에서 미포착</a:t>
            </a:r>
          </a:p>
          <a:p>
            <a:pPr lvl="1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냉각수 유량 변동 - 비선형 관계 발견</a:t>
            </a:r>
          </a:p>
        </p:txBody>
      </p:sp>
      <p:pic>
        <p:nvPicPr>
          <p:cNvPr id="5" name="Picture 4" descr="C3_ml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05840"/>
            <a:ext cx="5943600" cy="39390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11. 필터링 설정 및 프리셋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53035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필터 유형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적용 예시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강종 필터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D5, N5, D4, B5 등 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grade=D5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사이즈 필터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D10, D13, D16 등 선택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size=D10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기간 필터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분석 기간 지정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2026-01 ~ 02</a:t>
                      </a:r>
                    </a:p>
                  </a:txBody>
                  <a:tcPr/>
                </a:tc>
              </a:tr>
              <a:tr h="402336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태그 필터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특정 IBA 태그 선택/제외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STAND_9_TORQUE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474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267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프리셋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필터 조건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분석 범위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P1: 전체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전 강종/전 사이즈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84개 태그 전수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기본값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P2: 전체(=P1)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P1과 동일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동일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P1=P2 동치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P3: D5-D10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D5 + D10 사이즈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주력 품종 집중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토션 81%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P4: N5-D16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N5 + D16 사이즈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고강도강 집중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누워감김 주의</a:t>
                      </a:r>
                    </a:p>
                  </a:txBody>
                  <a:tcPr/>
                </a:tc>
              </a:tr>
              <a:tr h="42672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P5: D4-D16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D4 + D16 사이즈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특수강 분석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소량 생산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217920" y="118872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맑은 고딕"/>
              </a:defRPr>
            </a:pPr>
            <a:r>
              <a:t>참고: P1 = P2 동치</a:t>
            </a:r>
          </a:p>
          <a:p>
            <a:pPr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프리셋 1과 2는 동일한 전체 데이터 필터링 조건</a:t>
            </a:r>
          </a:p>
          <a:p>
            <a:pPr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프리셋 3~5는 강종×사이즈 조합별 심층 분석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12. 설비 정지 유형별 불량률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1_stop_type_defect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3762571"/>
          </a:xfrm>
          <a:prstGeom prst="rect">
            <a:avLst/>
          </a:prstGeom>
        </p:spPr>
      </p:pic>
      <p:pic>
        <p:nvPicPr>
          <p:cNvPr id="5" name="Picture 4" descr="D2_stop_duration_defect_r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669280" cy="376257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13. 설비 정지 전후 변화 및 Odds Ratio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3_before_after_s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3755183"/>
          </a:xfrm>
          <a:prstGeom prst="rect">
            <a:avLst/>
          </a:prstGeom>
        </p:spPr>
      </p:pic>
      <p:pic>
        <p:nvPicPr>
          <p:cNvPr id="5" name="Picture 4" descr="D4_odds_ratio_stop_def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005840"/>
            <a:ext cx="5261935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14. 강종별 비교 (D5 vs N5)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5029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D5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N5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주력 사이즈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D10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D16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주요 불량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토션 (81%)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누워감김 (45%)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핵심 태그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STAND_9 토크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가열로 압력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불량률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1.2%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상관 1위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PR3_TORQUE (r=-0.77)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FURNACE_P (r=0.58)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특이사항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토크 변동 민감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온도 관리 중요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4" descr="E1_d5_vs_n5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05840"/>
            <a:ext cx="5943600" cy="295678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15. D5-D10 심층분석: PR3 토크 산점도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  <a:latin typeface="맑은 고딕"/>
              </a:defRPr>
            </a:pPr>
            <a:r>
              <a:t>D5-D10 핵심 발견</a:t>
            </a:r>
          </a:p>
          <a:p>
            <a:pPr>
              <a:defRPr sz="1100" b="1">
                <a:solidFill>
                  <a:srgbClr val="333333"/>
                </a:solidFill>
                <a:latin typeface="맑은 고딕"/>
              </a:defRPr>
            </a:pPr>
            <a:r>
              <a:t>PR3 토크 상관: r = -0.774 (강한 음의 상관)</a:t>
            </a:r>
          </a:p>
          <a:p>
            <a:pPr>
              <a:defRPr sz="1100" b="1">
                <a:solidFill>
                  <a:srgbClr val="333333"/>
                </a:solidFill>
                <a:latin typeface="맑은 고딕"/>
              </a:defRPr>
            </a:pPr>
            <a:r>
              <a:t>토션 불량 비율: 81% (최다 불량 유형)</a:t>
            </a:r>
          </a:p>
          <a:p>
            <a:pPr>
              <a:defRPr sz="8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100" b="1">
                <a:solidFill>
                  <a:srgbClr val="333333"/>
                </a:solidFill>
                <a:latin typeface="맑은 고딕"/>
              </a:defRPr>
            </a:pPr>
            <a:r>
              <a:t>해석:</a:t>
            </a:r>
          </a:p>
          <a:p>
            <a:pPr lvl="1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PR3 토크가 낮을수록 불량률 상승</a:t>
            </a:r>
          </a:p>
          <a:p>
            <a:pPr lvl="1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토크 하한 관리 기준 설정 필요</a:t>
            </a:r>
          </a:p>
          <a:p>
            <a:pPr>
              <a:defRPr sz="800" b="0">
                <a:solidFill>
                  <a:srgbClr val="333333"/>
                </a:solidFill>
                <a:latin typeface="맑은 고딕"/>
              </a:defRPr>
            </a:pPr>
          </a:p>
          <a:p>
            <a:pPr>
              <a:defRPr sz="1100" b="1">
                <a:solidFill>
                  <a:srgbClr val="E74C3C"/>
                </a:solidFill>
                <a:latin typeface="맑은 고딕"/>
              </a:defRPr>
            </a:pPr>
            <a:r>
              <a:t>조치:</a:t>
            </a:r>
          </a:p>
          <a:p>
            <a:pPr lvl="1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PR3 토크 하한 경보 설정</a:t>
            </a:r>
          </a:p>
          <a:p>
            <a:pPr lvl="1"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토크 저하 시 자동 속도 조정 검토</a:t>
            </a:r>
          </a:p>
        </p:txBody>
      </p:sp>
      <p:pic>
        <p:nvPicPr>
          <p:cNvPr id="5" name="Picture 4" descr="E2_d5d10_pr3_torqu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05840"/>
            <a:ext cx="5943600" cy="4145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16. N5-D16 / D4-D16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3_n5d16_furnace_pressur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5669280" cy="3953978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097280"/>
          <a:ext cx="5029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D4-D16 결과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생산량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소량 (분석 제한)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불량 유형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표면결함 중심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핵심 태그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가열로 온도 균일도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상관 특성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비선형 관계 우세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권고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데이터 축적 후 재분석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17. 종합 영향 랭킹 (Composite Score)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  <a:gridCol w="1219200"/>
              </a:tblGrid>
              <a:tr h="374072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순위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태그명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Pearson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MW U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ML Imp.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Composite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STAND_9_TORQUE_std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0.92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STAND_8_TORQUE_std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0.88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EXTRACT_TEMP_std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0.85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FURNACE_UPPER_mean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0.80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PR3_TORQUE_std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0.008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0.75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SPEED_FINAL_std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0.72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STAND_7_TORQUE_std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0.015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0.68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COOLING_FLOW_std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0.65</a:t>
                      </a:r>
                    </a:p>
                  </a:txBody>
                  <a:tcPr/>
                </a:tc>
              </a:tr>
              <a:tr h="374072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FURNACE_LOWER_mean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0.62</a:t>
                      </a:r>
                    </a:p>
                  </a:txBody>
                  <a:tcPr/>
                </a:tc>
              </a:tr>
              <a:tr h="37408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STAND_6_TORQUE_std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0.030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0.58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0" y="1097280"/>
          <a:ext cx="3657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태그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Composite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조치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Tier 1 (Critical)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순위 1~3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0.85+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즉시 모니터링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Tier 2 (Important)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순위 4~6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0.72~0.80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단기 개선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Tier 3 (Monitor)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순위 7~10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0.58~0.68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지속 관찰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2C3E50"/>
                </a:solidFill>
                <a:latin typeface="맑은 고딕"/>
              </a:defRPr>
            </a:pPr>
            <a:r>
              <a:t>18. 개선 조치 로드맵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1274552" cy="25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조치 항목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담당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기한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2C3E5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즉시</a:t>
                      </a:r>
                    </a:p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(1주)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STAND_9 토크 변동 실시간 경보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품질팀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1주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경보 응답 &lt;5분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즉시</a:t>
                      </a:r>
                    </a:p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(1주)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추출온도 편차 관리 기준 강화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가열팀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1주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편차 &lt;20°C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즉시</a:t>
                      </a:r>
                    </a:p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(1주)</a:t>
                      </a:r>
                    </a:p>
                  </a:txBody>
                  <a:tcPr>
                    <a:solidFill>
                      <a:srgbClr val="FCE4E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정지 후 재가동 점검 프로토콜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설비팀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1주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점검 완료율 100%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단기</a:t>
                      </a:r>
                    </a:p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(1개월)</a:t>
                      </a:r>
                    </a:p>
                  </a:txBody>
                  <a:tcPr>
                    <a:solidFill>
                      <a:srgbClr val="FFE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PR3 토크 하한 경보 설정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압연팀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4주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하한 미달 &lt;2%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단기</a:t>
                      </a:r>
                    </a:p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(1개월)</a:t>
                      </a:r>
                    </a:p>
                  </a:txBody>
                  <a:tcPr>
                    <a:solidFill>
                      <a:srgbClr val="FFE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강종별 맞춤 관리 기준 수립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품질팀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4주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강종별 Cpk&gt;1.33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단기</a:t>
                      </a:r>
                    </a:p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(1개월)</a:t>
                      </a:r>
                    </a:p>
                  </a:txBody>
                  <a:tcPr>
                    <a:solidFill>
                      <a:srgbClr val="FFEE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가열로 온도 균일성 개선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가열팀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4주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균일도 ±10°C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중기</a:t>
                      </a:r>
                    </a:p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(3개월)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AI 기반 불량 예측 시스템 구축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IT팀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12주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예측 정확도 &gt;80%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중기</a:t>
                      </a:r>
                    </a:p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(3개월)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코일 단위 실시간 분석 체계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IT팀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12주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분석 지연 &lt;1분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중기</a:t>
                      </a:r>
                    </a:p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(3개월)</a:t>
                      </a:r>
                    </a:p>
                  </a:txBody>
                  <a:tcPr>
                    <a:solidFill>
                      <a:srgbClr val="D6EA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통합 대시보드 구축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IT팀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12주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맑은 고딕"/>
                        </a:defRPr>
                      </a:pPr>
                      <a:r>
                        <a:t>조회 응답 &lt;3초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5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404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맑은 고딕"/>
              </a:defRPr>
            </a:pPr>
            <a:r>
              <a:t>DH Steel 평택공장 | 공정-불량 영향 분석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47548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맑은 고딕"/>
              </a:defRPr>
            </a:pPr>
            <a:r>
              <a:t>분석 데이터: analysis_output/2026_01_02_defect_factor_analysis/</a:t>
            </a:r>
            <a:br/>
            <a:r>
              <a:t>차트 원본: charts/ 디렉토리 참조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