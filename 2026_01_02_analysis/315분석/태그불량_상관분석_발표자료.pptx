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태그-불량 상관관계 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맑은 고딕"/>
              </a:defRPr>
            </a:pPr>
            <a:r>
              <a:t>IBA 79개 태그 × 4기법 앙상블 통합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분석 기간: 2025.03 ~ 08  |  대상: 전 강종 (ALL, N5, D5, D4, B5)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방법론: M1 Spearman + M2 Mann-Whitney + M3 LightGBM + M4 Quantile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77"/>
                </a:solidFill>
                <a:latin typeface="맑은 고딕"/>
              </a:defRPr>
            </a:pPr>
            <a:r>
              <a:t>DH Steel IBA Data 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① MAIN_GAS_FLOW(가스 유량)가 4기법 모두 Top-2 진입 → 유일한 ★★★★ 확정 태그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② 가열로 영역(Cat01~04)이 Top-18 전체를 점유, Cat04 보조설비가 50%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③ 온도 '수준(avg)'보다 '변동성(IQR/std)' 감소가 불량 증가와 연관 — 반직관적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맑은 고딕"/>
              </a:defRPr>
            </a:pPr>
            <a:r>
              <a:t>증거 등급 요약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004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등급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MAIN_GAS_FLOW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4기법 모두 Top-2 — 유일한 최고 등급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SOAKING_BTM Z1/Z2, MAIN_GAS_TEMP, COOLING_WATER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 Top-10 또는 M4 비영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FURNACE_EXIT_BILLET, HEATING_BTM/TOP Z1 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2기법 Top-10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나머지 7개 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1기법 이하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120640"/>
            <a:ext cx="11247120" cy="1371600"/>
          </a:xfrm>
          <a:prstGeom prst="roundRect">
            <a:avLst/>
          </a:prstGeom>
          <a:solidFill>
            <a:srgbClr val="FDEDED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즉시 적용 가능한 1차 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맑은 고딕"/>
              </a:defRPr>
            </a:pPr>
            <a:r>
              <a:t>• MAIN_GAS_FLOW 하한 알람 설정 (가스 유량 ↓ → 불량 ↑)</a:t>
            </a:r>
            <a:br/>
            <a:r>
              <a:t>• FURNACE_EXIT_BILLET_TEMP IQR 상한 알람 설정 (추출 온도 편차 ↑ → 불량 ↑)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데이터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264,433건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IBA 총 레코드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56032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188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87일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불량 데이터 일수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97280"/>
            <a:ext cx="2560320" cy="109728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79개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분석 대상 태그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097280"/>
            <a:ext cx="2560320" cy="10972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188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4기법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앙상블 기법 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강종별 데이터 충분성 및 기법 적용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9260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JOIN 일수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앙상블 가중치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87일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✅ 9건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✅ 2건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M1=.29 M2=.24 M3=.29 M4=.18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18태그(VIF)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29일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✅ 0건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✅(6/23)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M1=.55 M2=.45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79태그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13일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✅ 0건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M1=1.00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79태그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8" name="Picture 17" descr="diag_data_coverag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480560"/>
            <a:ext cx="9144000" cy="4489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4기법 앙상블 분석 프레임워크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65176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M1</a:t>
            </a:r>
            <a:br/>
            <a:r>
              <a:t>Spearman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순위 상관</a:t>
            </a:r>
            <a:br/>
            <a:r>
              <a:t>(ρ, p-value)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188720"/>
            <a:ext cx="2651760" cy="1371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34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M2</a:t>
            </a:r>
            <a:br/>
            <a:r>
              <a:t>Mann-Whitney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고불량 vs 정상</a:t>
            </a:r>
            <a:br/>
            <a:r>
              <a:t>(Cohen's 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65176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M3</a:t>
            </a:r>
            <a:br/>
            <a:r>
              <a:t>LightGBM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피처 중요도</a:t>
            </a:r>
            <a:br/>
            <a:r>
              <a:t>(Gain FI)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188720"/>
            <a:ext cx="2651760" cy="13716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234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M4</a:t>
            </a:r>
            <a:br/>
            <a:r>
              <a:t>Quantile Q90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극단 불량</a:t>
            </a:r>
            <a:br/>
            <a:r>
              <a:t>(Q90 계수)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맑은 고딕"/>
              </a:defRPr>
            </a:pPr>
            <a:r>
              <a:t>▼  ▼  ▼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200400"/>
            <a:ext cx="576072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2461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가중 앙상블 순위 통합 → Top-18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앙상블 가중치 (M5/M6 미실행, 재분배)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371600" y="4663440"/>
          <a:ext cx="94183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M1 Spearman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M2 Cohen's 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M3 LightGBM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M4 Quantile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0.176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※ M5(IQR 이상치 교차), M6(PELT 변점 빈도) — 87일 &lt; 최소 100일 요건으로 미실행.</a:t>
            </a:r>
            <a:br/>
            <a:r>
              <a:t>   원래 6기법 가중치에서 M5/M6 몫을 M1~M4에 비례 재분배.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M1: Spearman 순위 상관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7315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맑은 고딕"/>
              </a:defRPr>
            </a:pPr>
            <a:r>
              <a:t>Bonferroni 보정 후 유의 9건, 8/9건이 음의 상관 (변동성 ↓ → 불량 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1. SOAKING_BTM_Z1 iqr×total: ρ=-0.449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2. MAIN_GAS_FLOW avg×total: ρ=-0.434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3. FURNACE_EXIT_BILLET iqr×total: ρ=+0.424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가열로 태그 9/9건 독점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IQR/std/cv 변동성 통계 주도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유일한 양의 상관: 추출온도 IQR↑→불량↑</a:t>
            </a:r>
          </a:p>
        </p:txBody>
      </p:sp>
      <p:pic>
        <p:nvPicPr>
          <p:cNvPr id="7" name="Picture 6" descr="chart_01_spearma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675120" cy="32272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M2: Mann-Whitney U + Cohen's d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731520"/>
          </a:xfrm>
          <a:prstGeom prst="round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맑은 고딕"/>
              </a:defRPr>
            </a:pPr>
            <a:r>
              <a:t>Bonferroni 유의 2건 + 큰 효과(|d|≥0.80) 5건, 전원 가열로 관련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1. FURNACE_EXIT_BILLET iqr: d=0.994 ✅유의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2. MAIN_GAS_FLOW avg: d=0.946 ✅유의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3. SOAKING_BTM_Z1 iqr: d=0.871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4. SOAKING_BTM_Z2 iqr: d=0.835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5. MAIN_GAS_FLOW cv: d=0.827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M1 Top-3과 M2 Top-3 동일 태그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→ 앙상블 교차 신뢰도 높음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COOLING_WATER 6위: 비가열로 유일 진입</a:t>
            </a:r>
          </a:p>
        </p:txBody>
      </p:sp>
      <p:pic>
        <p:nvPicPr>
          <p:cNvPr id="7" name="Picture 6" descr="chart_11_cohens_d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675120" cy="4791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M3: LightGBM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73152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맑은 고딕"/>
              </a:defRPr>
            </a:pPr>
            <a:r>
              <a:t>MAIN_GAS_FLOW Gain FI = 38.7% — 전체의 약 38% 점유, 압도적 1위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1. MAIN_GAS_FLOW: Gain=38.7, Split=127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2. INDIRECT_WATER_TEMP: Gain=14.4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3. COOLING_WATER_FLOW: Gain=8.3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4. HEATING_BTM_Z1: Gain=7.0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5. HEATING_TOP_Z1: Gain=6.5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avg 통계량 주도 (수준이 예측에 기여)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냉각수 2개 태그 Top-3 진입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LOO-CV R²=-0.109 (87건 소량)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→ FI 순위는 유효, 절대 예측력은 약함</a:t>
            </a:r>
          </a:p>
        </p:txBody>
      </p:sp>
      <p:pic>
        <p:nvPicPr>
          <p:cNvPr id="7" name="Picture 6" descr="D09_lgbm_gain_spli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675120" cy="37873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M4: Quantile Regression Q90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731520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맑은 고딕"/>
              </a:defRPr>
            </a:pPr>
            <a:r>
              <a:t>18개 피처 중 비영(non-zero) Q90 계수는 2개만 — 극단 불량의 핵심 드라이버 식별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1. MAIN_GAS_FLOW: Q90=-0.006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 → 가스 유량 ↓ = 극단 불량 핵심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2. COOLING_WATER_FLOW: Q90=+0.001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 → 냉각수 과다 = 극단 불량 연관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3~18. 나머지 16개: Q90=0.000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Q75부터 MAIN_GAS_FLOW 계수 출현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Q90에서 계수 강화 → 극단 이벤트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대부분 태그 무기여 → 집중 모니터링</a:t>
            </a:r>
          </a:p>
        </p:txBody>
      </p:sp>
      <p:pic>
        <p:nvPicPr>
          <p:cNvPr id="7" name="Picture 6" descr="D12_quantile_q90_diver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675120" cy="44276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앙상블 Top-10 랭킹 (ALL)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2909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점수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M1 ρ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M2 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M3 FI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MAIN_GAS_FLOW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Cat04 보조설비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1.53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0.434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0.946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38.7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SOAKING_BTM_Z2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Cat02 하부온도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0.413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0.835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3.8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SOAKING_BTM_Z1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Cat02 하부온도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2.2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FURNACE_EXIT_BILLET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Cat03 추출온도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0.424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0.994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1.7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MAIN_GAS_TEMP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Cat04 보조설비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0.311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0.598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3.5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HEATING_BTM_Z1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Cat02 하부온도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7.0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COOLING_WATER_FLOW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Cat09 냉각수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8.3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HEATING_TOP_Z1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Cat01 상부온도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0.544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6.5</a:t>
                      </a:r>
                    </a:p>
                  </a:txBody>
                  <a:tcPr anchor="ctr"/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FURNACE_PRESSURE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Cat04 보조설비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0.309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0.602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0.9</a:t>
                      </a:r>
                    </a:p>
                  </a:txBody>
                  <a:tcPr anchor="ctr"/>
                </a:tc>
              </a:tr>
              <a:tr h="29095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SOAKING_TOP_Z1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Cat01 상부온도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0.453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3.2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★ #1 MAIN_GAS_FLOW: 앙상블 점수 1.53 — 2위(4.41) 대비 2.9배 우위, 4기법 전원 Top-2</a:t>
            </a:r>
          </a:p>
        </p:txBody>
      </p:sp>
      <p:pic>
        <p:nvPicPr>
          <p:cNvPr id="6" name="Picture 5" descr="chart_03_top20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029200"/>
            <a:ext cx="9144000" cy="58029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4기법 교차 증거 등급 히트맵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등급 분포: ★★★★=1개 | ★★★=4개 | ★★=5개 | ★=8개  →  ★★★이상 5개가 1차 조기경보 대상</a:t>
            </a:r>
          </a:p>
        </p:txBody>
      </p:sp>
      <p:pic>
        <p:nvPicPr>
          <p:cNvPr id="5" name="Picture 4" descr="chart_21_evidence_grad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112395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카테고리별 앙상블 분포 — 3분류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현업/가열로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Cat01~04, Cat09  |  18태그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Top-18 진입: 18 (100%)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474720" cy="13716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PLC/스탠드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Cat05~07  |  46태그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Top-18 진입: 0 (0%)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097280"/>
            <a:ext cx="3474720" cy="13716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AI/핀치롤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Cat08, Cat09b  |  15태그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Top-18 진입: 0 (0%)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맑은 고딕"/>
              </a:defRPr>
            </a:pPr>
            <a:r>
              <a:t>Cat04(보조설비: 가스·압력·O₂) 50% 점유 → 연소 시스템 최적화가 품질의 핵심</a:t>
            </a:r>
          </a:p>
        </p:txBody>
      </p:sp>
      <p:pic>
        <p:nvPicPr>
          <p:cNvPr id="17" name="Picture 16" descr="chart_22_three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10058400" cy="42742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강종별 Top-20 교차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ALL 순위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N5 순위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D5 순위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공통 등장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MAIN_GAS_FLOW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3/3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FINISHING_BLOCK_MASTER_TORQUE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2/3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FINISHING_BLOCK_SLAVE_TORQUE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2/3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FURNACE_EXIT_BILLET_TEMP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2/3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PINCHROLL_4_ACTUAL_SPEED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2/3</a:t>
                      </a:r>
                    </a:p>
                  </a:txBody>
                  <a:tcPr anchor="ctr"/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FURNACE_O2_ANALYZER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2/3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★ MAIN_GAS_FLOW만 3개 레이어 모두 등장 → 강종 무관 핵심 태그</a:t>
            </a:r>
          </a:p>
        </p:txBody>
      </p:sp>
      <p:pic>
        <p:nvPicPr>
          <p:cNvPr id="6" name="Picture 5" descr="chart_14_grade_top20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10058400" cy="781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74C3C"/>
                </a:solidFill>
                <a:latin typeface="맑은 고딕"/>
              </a:defRPr>
            </a:pPr>
            <a:r>
              <a:t>결론 1: MAIN_GAS_FLOW ★★★★ — 최우선 모니터링 대상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4기법 모두 Top-2 진입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M1 Spearman: #2 (ρ=-0.434)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M2 Cohen's d: #2 (d=0.946)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M3 LightGBM: #1 (FI=38.7%)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M4 Quantile: #1 (Q90=-0.006)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음의 상관: 가스 유량 ↓ → 불량 ↑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강종 무관 (ALL#1, N5#11, D5#12)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3개 레이어 모두 등장하는 유일한 태그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E74C3C"/>
                </a:solidFill>
                <a:latin typeface="맑은 고딕"/>
              </a:defRPr>
            </a:pPr>
            <a:r>
              <a:t>권고: 일별 평균 가스 유량 하한 알람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임계값: Q10~Q20 분포 기반 설정</a:t>
            </a:r>
          </a:p>
        </p:txBody>
      </p:sp>
      <p:pic>
        <p:nvPicPr>
          <p:cNvPr id="5" name="Picture 4" descr="chart_23_main_gas_flow_gra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217920" cy="2195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7E22"/>
                </a:solidFill>
                <a:latin typeface="맑은 고딕"/>
              </a:defRPr>
            </a:pPr>
            <a:r>
              <a:t>결론 2: 온도 변동성 감소 패턴 — 반직관적 발견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M1 유의 9건 중 8건이 음의 상관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IQR/std/cv ↓ → 불량 ↑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가열로 온도 변동이 줄어드는 날에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불량 발생 증가 → 과도한 안정화가 문제?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유일한 양의 상관: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FURNACE_EXIT_BILLET IQR↑ → 불량↑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(추출 시점 온도 편차가 클수록 불량)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해석 가설: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온도 변동 감소 = 저부하 운전(소량생산)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→ 가열로 효율 저하 → 빌렛 온도 불균일</a:t>
            </a:r>
          </a:p>
        </p:txBody>
      </p:sp>
      <p:pic>
        <p:nvPicPr>
          <p:cNvPr id="5" name="Picture 4" descr="chart_19_defect_tag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217920" cy="23098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맑은 고딕"/>
              </a:defRPr>
            </a:pPr>
            <a:r>
              <a:t>결론 3: 가열로 = 불량의 근본 원인 영역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Top-18 전원 = 가열로 + 냉각수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Cat01~04 + Cat09만 진입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Cat04(보조설비) 50% 점유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가스·압력·O₂ → 연소 시스템이 핵심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맑은 고딕"/>
              </a:defRPr>
            </a:pPr>
            <a:r>
              <a:t>스탠드/핀치롤 0건 (61개 태그)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ALL 합산에서 VIF로 제외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강종별(N5/D5)에서만 일부 등장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E74C3C"/>
                </a:solidFill>
                <a:latin typeface="맑은 고딕"/>
              </a:defRPr>
            </a:pPr>
            <a:r>
              <a:t>권고: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가열로 연소 최적화에 1차 투자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후공정은 100일+ 데이터 확보 후 재검증</a:t>
            </a:r>
          </a:p>
        </p:txBody>
      </p:sp>
      <p:pic>
        <p:nvPicPr>
          <p:cNvPr id="5" name="Picture 4" descr="chart_09_ven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217920" cy="36476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권고 조치 — 확정 알람 및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확정 핵심 태그 (4기법 합의) — 즉시 알람 적용 권고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612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공정 의미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알람 방향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권고 조치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MAIN_GAS_FLOW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가스 유량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↓ 하한 알람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유량 저하 시 즉시 경보. Q10~Q20 기반 임계값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FURNACE_EXIT_BILLET_TEMP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추출 빌렛 온도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↑ IQR 상한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온도 편차 확대 시 경보. 추출 균일성 관리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SOAKING_BTM 온도 (Z1/Z2)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균열대 하부 온도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↓ IQR 하한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변동성 감소 시 주의 (메커니즘 추가 검증)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INDIRECT_COOLING_WATER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냉각수 유량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↑ 상한 알람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냉각수 과다 시 경보 (Q90 양의 계수)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3566160"/>
            <a:ext cx="22860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즉시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MAIN_GAS_FLOW 하한 + BILLET_TEMP IQR 상한 알람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389120"/>
            <a:ext cx="22860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중기 (1~2개월)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균열대 온도 변동성 알람 검토, 가열로 연소 최적화 착수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212080"/>
            <a:ext cx="228600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303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장기 (3개월+)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100일+ 데이터 확보 → M5/M6 기법 적용, 강종별 ML 확대</a:t>
            </a:r>
          </a:p>
        </p:txBody>
      </p:sp>
      <p:pic>
        <p:nvPicPr>
          <p:cNvPr id="15" name="Picture 14" descr="chart_20_actionabl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303520"/>
            <a:ext cx="5029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데이터 보강 및 후속 분석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과제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 상태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목표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기대 효과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M5/M6 기법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87일 (미실행)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100일+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IQR 이상치 교차 + PELT 변점 → 6기법 앙상블 완성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강종별 ML 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N5: M1+M2만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N5: 40일+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LightGBM/Quantile 적용 → 강종별 핵심 태그 정밀화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스탠드/핀치롤 재검증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ALL VIF 제외 (0/61)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강종별 데이터 확충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후공정 태그의 강종 특이적 효과 확인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규격별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Layer 2 전량 스킵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규격별 충분 일수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규격(D10~D20) 간 불량 패턴 차이 식별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온도 변동성 메커니즘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가설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저부하 운전 데이터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음의 상관 원인 규명 → 정밀 알람 기준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맑은 고딕"/>
              </a:defRPr>
            </a:pPr>
            <a:r>
              <a:t>현재 분석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• M3 LOO-CV R²=-0.109: 87건 소량으로 예측 모델 미달 (FI 순위는 유효)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• M4 희소 계수: 18개 중 2개만 비영 → Quantile 정규화 과도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• 가열로 편향: Top-18 전원 가열로 → VIF 기반 피처 선택의 구조적 제약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• D4/B5 viz_only: 각 7일/5일로 통계 기법 적용 불가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BB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  <a:latin typeface="맑은 고딕"/>
              </a:defRPr>
            </a:pPr>
            <a:r>
              <a:t>상세 데이터: analysis_output/tag_defect_correlation/  |  보고서: REPORT_tag_defect_pptx.md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